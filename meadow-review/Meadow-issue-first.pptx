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cef92eb6d9414b" /><Relationship Type="http://schemas.openxmlformats.org/officeDocument/2006/relationships/extended-properties" Target="/docProps/app.xml" Id="R19d2c23162f54932" /><Relationship Type="http://schemas.openxmlformats.org/officeDocument/2006/relationships/officeDocument" Target="/ppt/presentation.xml" Id="R90efa6c4a5ba48c9" /></Relationships>
</file>

<file path=ppt/presentation.xml><?xml version="1.0" encoding="utf-8"?>
<p:presentation xmlns:p="http://schemas.openxmlformats.org/presentationml/2006/main">
  <p:sldMasterIdLst>
    <p:sldMasterId xmlns:r="http://schemas.openxmlformats.org/officeDocument/2006/relationships" id="2147483648" r:id="R3b13ad417d174443"/>
  </p:sldMasterIdLst>
  <p:notesMasterIdLst>
    <p:notesMasterId xmlns:r="http://schemas.openxmlformats.org/officeDocument/2006/relationships" r:id="Ra970482831e5484d"/>
  </p:notesMasterIdLst>
  <p:sldIdLst>
    <p:sldId xmlns:r="http://schemas.openxmlformats.org/officeDocument/2006/relationships" id="256" r:id="R9d0c8b9a01e349bd"/>
    <p:sldId xmlns:r="http://schemas.openxmlformats.org/officeDocument/2006/relationships" id="257" r:id="Rf159bacf1f734481"/>
    <p:sldId xmlns:r="http://schemas.openxmlformats.org/officeDocument/2006/relationships" id="258" r:id="Recfe460ac1494ae3"/>
    <p:sldId xmlns:r="http://schemas.openxmlformats.org/officeDocument/2006/relationships" id="259" r:id="R6f27d423e0e34fec"/>
    <p:sldId xmlns:r="http://schemas.openxmlformats.org/officeDocument/2006/relationships" id="260" r:id="Rfb3758d7228044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d75f967fe24a61" /><Relationship Type="http://schemas.openxmlformats.org/officeDocument/2006/relationships/slideMaster" Target="/ppt/slideMasters/slideMaster1.xml" Id="R3b13ad417d174443" /><Relationship Type="http://schemas.openxmlformats.org/officeDocument/2006/relationships/notesMaster" Target="/ppt/notesMasters/notesMaster1.xml" Id="Ra970482831e5484d" /><Relationship Type="http://schemas.openxmlformats.org/officeDocument/2006/relationships/presProps" Target="/ppt/presProps.xml" Id="Ra0ad45284fc2478d" /><Relationship Type="http://schemas.openxmlformats.org/officeDocument/2006/relationships/tableStyles" Target="/ppt/tableStyles.xml" Id="Rdbaf4c3e55f440b1" /><Relationship Type="http://schemas.openxmlformats.org/officeDocument/2006/relationships/slide" Target="/ppt/slides/slide1.xml" Id="R9d0c8b9a01e349bd" /><Relationship Type="http://schemas.openxmlformats.org/officeDocument/2006/relationships/slide" Target="/ppt/slides/slide2.xml" Id="Rf159bacf1f734481" /><Relationship Type="http://schemas.openxmlformats.org/officeDocument/2006/relationships/slide" Target="/ppt/slides/slide3.xml" Id="Recfe460ac1494ae3" /><Relationship Type="http://schemas.openxmlformats.org/officeDocument/2006/relationships/slide" Target="/ppt/slides/slide4.xml" Id="R6f27d423e0e34fec" /><Relationship Type="http://schemas.openxmlformats.org/officeDocument/2006/relationships/slide" Target="/ppt/slides/slide5.xml" Id="Rfb3758d7228044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740ee9d5f34e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28a2343fb745d2" /><Relationship Type="http://schemas.openxmlformats.org/officeDocument/2006/relationships/notesMaster" Target="/ppt/notesMasters/notesMaster1.xml" Id="R60e2d4ae8c734a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84ee1013fd4da7" /><Relationship Type="http://schemas.openxmlformats.org/officeDocument/2006/relationships/notesMaster" Target="/ppt/notesMasters/notesMaster1.xml" Id="Rf65b45b4fdee45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4757b2699240ef" /><Relationship Type="http://schemas.openxmlformats.org/officeDocument/2006/relationships/notesMaster" Target="/ppt/notesMasters/notesMaster1.xml" Id="Rbb69f9dba53447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dc1fd7b0644102" /><Relationship Type="http://schemas.openxmlformats.org/officeDocument/2006/relationships/notesMaster" Target="/ppt/notesMasters/notesMaster1.xml" Id="Rf76c97672b104e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7e350f00524207" /><Relationship Type="http://schemas.openxmlformats.org/officeDocument/2006/relationships/notesMaster" Target="/ppt/notesMasters/notesMaster1.xml" Id="R9e8f019b568945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“Our issue is fake e-commerce websites. A shopper reaches a page that resembles a genuine store and may make a payment or disclose information to a criminal. We focus on the decision before entering details.” The labels identify possible harms, not outcomes of every suspicious page. Source: NCSC, Shopping and paying safely online, sections Check the shop is legitimate and Watch out for suspicious links: https://www.ncsc.gov.uk/guidance/shopping-online-securely. No incident totals or detection rates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0:35–1:05. “The cues that make a store feel familiar are not identity checks. Criminals can copy logos and layouts. HTTPS protects the connection, but a deceptive merchant can use it too. This is why a good-looking site is an incomplete basis for trust.” Sources: NCSC https://www.ncsc.gov.uk/guidance/shopping-online-securely for duplicated designs and logos; FTC, Online Shopping https://consumer.ftc.gov/articles/online-shopping for the encryption/legitimacy distinction. No claim is made that HTTPS, good design or a copied-looking logo alone indicates fraud.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1:05–1:45. “Read this invented address. The familiar-looking word comes first, but the actual domain is example-shop.test. Putting a brand name in a subdomain does not establish affiliation with that brand. The example illustrates address structure, not a verdict about a real website. Domain clues need context.” This is an author-created example using the reserved .test suffix. Under the example’s domain structure, brand is a subdomain. Project source: extension/domain.js and tests/engine.test.mjs. General deceptive-address context: NCSC https://www.ncsc.gov.uk/guidance/shopping-online-securely. Real parsing uses the Public Suffix List, including private suffixes, rather than blindly taking the final two labels. Do not navigate to this fictional address.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1:45–2:15. “A useful first check must distinguish a clue from a concrete unsafe condition. New businesses register new domains too, so newness alone does not justify accusing the seller. Sensitive fields on an HTTP page justify a stronger warning about entering information. Meadow implements these distinctions with rules and readable reasons, without an AI model. It checks automatically and makes the evidence available in the browser.” These are this project's explicit rule choices, not universal fraud thresholds. HIGH RISK concerns observed conditions, not proof of malicious intent. Source: extension/engine.js; tests/engine.test.mjs cases new independent shop and HTTP sensitive fields. The seven categories cover domain, identity, age, address structure, connection/forms, payment context and merchant information. Unsupported or unavailable checks stay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2:15–2:30 setup. “We will test that idea live: a checkout with sensitive fields on HTTP, then a new independent shop.” 2:30–4:30 demo. Switch to Chrome checkout-store.localhost:8765. Open the pinned Meadow Demo Lab extension and show REVIEW. Close it, click Proceed to checkout, then reopen when the badge changes. Show HIGH RISK and expand Connection &amp; forms. Next, open new-store.localhost:8765 and Registration age; it stays REVIEW. The local HTTP condition already gives both starting pages a reason for caution. Age values are explicitly labelled fixtures. Other rules inspect the actual DOM. All payment fields are disabled. The page's large side panel is an engine preview, not the actual extension popup: show the toolbar extension at least once. 4:30–4:45 return to this slide. “This gives the shopper a visible reason to pause before sharing details. It is a limited first check, not proof that a seller is genuine.” 15 seconds buffer. Current software tests establish implementation behaviour, not real-world accuracy. Sources: demo/lab.js, extension/demo-fixtures.js, content.js, engine.js, evaluation/BRANDING-REVIEW.md.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dadc381ac84f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91101f4f0946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bcffc49565841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91e399a9f946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4c93a46ed646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af8db31e6ef4e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9B53F2-0F1B-4E9A-B21E-72A18589078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752F1D0-F7D9-4E57-9885-1E138D28BE0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B9856A1-8495-4121-B515-197C6807654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A4EF51-47E9-4ADD-A5A4-2F00BA7FF5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43DA416-87AA-4BF7-88F2-16D8F7F0C6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6C68676-F527-40DE-81AA-F9A7137A11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6C861F-C55F-484A-9CDE-A94931C523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18D11F-A61D-44F9-9EF3-302775C9180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8ED822-0356-4440-A326-BDA9BE34F2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A31429-A879-49A9-BEC4-7FBB0CB639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6a92f3fcda4e66" /><Relationship Type="http://schemas.openxmlformats.org/officeDocument/2006/relationships/slideLayout" Target="/ppt/slideLayouts/slideLayout1.xml" Id="Re648feba70c8413a" /><Relationship Type="http://schemas.openxmlformats.org/officeDocument/2006/relationships/slideLayout" Target="/ppt/slideLayouts/slideLayout2.xml" Id="R4e2e46f33ee14659" /><Relationship Type="http://schemas.openxmlformats.org/officeDocument/2006/relationships/slideLayout" Target="/ppt/slideLayouts/slideLayout3.xml" Id="R43f4a5fe3dad47e6" /><Relationship Type="http://schemas.openxmlformats.org/officeDocument/2006/relationships/slideLayout" Target="/ppt/slideLayouts/slideLayout4.xml" Id="Rf29799e57c7648d4" /><Relationship Type="http://schemas.openxmlformats.org/officeDocument/2006/relationships/slideLayout" Target="/ppt/slideLayouts/slideLayout5.xml" Id="R375dde4b2adf4553" /><Relationship Type="http://schemas.openxmlformats.org/officeDocument/2006/relationships/slideLayout" Target="/ppt/slideLayouts/slideLayout6.xml" Id="R56d7ee8ca8874f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48feba70c8413a"/>
    <p:sldLayoutId xmlns:r="http://schemas.openxmlformats.org/officeDocument/2006/relationships" id="2147483650" r:id="R4e2e46f33ee14659"/>
    <p:sldLayoutId xmlns:r="http://schemas.openxmlformats.org/officeDocument/2006/relationships" id="2147483651" r:id="R43f4a5fe3dad47e6"/>
    <p:sldLayoutId xmlns:r="http://schemas.openxmlformats.org/officeDocument/2006/relationships" id="2147483652" r:id="Rf29799e57c7648d4"/>
    <p:sldLayoutId xmlns:r="http://schemas.openxmlformats.org/officeDocument/2006/relationships" id="2147483653" r:id="R375dde4b2adf4553"/>
    <p:sldLayoutId xmlns:r="http://schemas.openxmlformats.org/officeDocument/2006/relationships" id="2147483654" r:id="R56d7ee8ca8874f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a93c7a24f0e4dba" /><Relationship Type="http://schemas.openxmlformats.org/officeDocument/2006/relationships/notesSlide" Target="/ppt/notesSlides/notesSlide1.xml" Id="Rd74f34c192de43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1a7b0db214454e" /><Relationship Type="http://schemas.openxmlformats.org/officeDocument/2006/relationships/notesSlide" Target="/ppt/notesSlides/notesSlide2.xml" Id="Re8374956f2e441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96e891ea42142c6" /><Relationship Type="http://schemas.openxmlformats.org/officeDocument/2006/relationships/notesSlide" Target="/ppt/notesSlides/notesSlide3.xml" Id="R53f9e60550734d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d61c88e6ccf4063" /><Relationship Type="http://schemas.openxmlformats.org/officeDocument/2006/relationships/notesSlide" Target="/ppt/notesSlides/notesSlide4.xml" Id="R4254ce3db3cb48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372d83a6c284ae2" /><Relationship Type="http://schemas.openxmlformats.org/officeDocument/2006/relationships/notesSlide" Target="/ppt/notesSlides/notesSlide5.xml" Id="R07843bd47b8541ac" /></Relationships>
</file>

<file path=ppt/slides/slide1.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8" name="FAKE E-COMMERCE WEBSITE INVESTIGATION">
            <a:extLst xmlns:a="http://schemas.openxmlformats.org/drawingml/2006/main">
              <a:ext uri="{FF2B5EF4-FFF2-40B4-BE49-F238E27FC236}">
                <a16:creationId xmlns:a16="http://schemas.microsoft.com/office/drawing/2014/main" id="{B5DC25B7-D357-4C77-8B73-A725D24A735A}"/>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ADAEAA"/>
                </a:solidFill>
                <a:latin typeface="Inter"/>
                <a:ea typeface="Inter"/>
                <a:cs typeface="Inter"/>
              </a:defRPr>
            </a:defPPr>
          </a:lstStyle>
          <a:p xmlns:a="http://schemas.openxmlformats.org/drawingml/2006/main">
            <a:pPr>
              <a:defRPr sz="1275" b="0">
                <a:solidFill>
                  <a:srgbClr val="ADAEAA"/>
                </a:solidFill>
                <a:latin typeface="Inter"/>
                <a:ea typeface="Inter"/>
                <a:cs typeface="Inter"/>
              </a:defRPr>
            </a:pPr>
            <a:r>
              <a:rPr sz="1275" b="0">
                <a:solidFill>
                  <a:srgbClr val="ADAEAA"/>
                </a:solidFill>
                <a:latin typeface="Inter"/>
                <a:ea typeface="Inter"/>
                <a:cs typeface="Inter"/>
              </a:rPr>
              <a:t>FAKE E-COMMERCE WEBSITE INVESTIGATION</a:t>
            </a:r>
          </a:p>
        </p:txBody>
      </p:sp>
      <p:sp>
        <p:nvSpPr>
          <p:cNvPr id="2" name="meadow">
            <a:extLst xmlns:a="http://schemas.openxmlformats.org/drawingml/2006/main">
              <a:ext uri="{FF2B5EF4-FFF2-40B4-BE49-F238E27FC236}">
                <a16:creationId xmlns:a16="http://schemas.microsoft.com/office/drawing/2014/main" id="{4A0B60AE-B94E-4DA3-B85D-0D1A32257EEF}"/>
              </a:ext>
            </a:extLst>
          </p:cNvPr>
          <p:cNvSpPr>
            <a:spLocks xmlns:a="http://schemas.openxmlformats.org/drawingml/2006/main" noGrp="1"/>
          </p:cNvSpPr>
          <p:nvPr/>
        </p:nvSpPr>
        <p:spPr>
          <a:xfrm xmlns:a="http://schemas.openxmlformats.org/drawingml/2006/main">
            <a:off x="609600" y="63246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ADAEAA"/>
                </a:solidFill>
                <a:latin typeface="Rajdhani"/>
                <a:ea typeface="Rajdhani"/>
                <a:cs typeface="Rajdhani"/>
              </a:defRPr>
            </a:defPPr>
          </a:lstStyle>
          <a:p xmlns:a="http://schemas.openxmlformats.org/drawingml/2006/main">
            <a:pPr>
              <a:defRPr sz="1950" b="1">
                <a:solidFill>
                  <a:srgbClr val="ADAEAA"/>
                </a:solidFill>
                <a:latin typeface="Rajdhani"/>
                <a:ea typeface="Rajdhani"/>
                <a:cs typeface="Rajdhani"/>
              </a:defRPr>
            </a:pPr>
            <a:r>
              <a:rPr sz="1950" b="1">
                <a:solidFill>
                  <a:srgbClr val="ADAEAA"/>
                </a:solidFill>
                <a:latin typeface="Rajdhani"/>
                <a:ea typeface="Rajdhani"/>
                <a:cs typeface="Rajdhani"/>
              </a:rPr>
              <a:t>meadow</a:t>
            </a:r>
          </a:p>
        </p:txBody>
      </p:sp>
      <p:sp>
        <p:nvSpPr>
          <p:cNvPr id="3" name="01 / 05">
            <a:extLst xmlns:a="http://schemas.openxmlformats.org/drawingml/2006/main">
              <a:ext uri="{FF2B5EF4-FFF2-40B4-BE49-F238E27FC236}">
                <a16:creationId xmlns:a16="http://schemas.microsoft.com/office/drawing/2014/main" id="{2AD9A3AC-DDDC-4D3F-8172-7D2B7B91AD31}"/>
              </a:ext>
            </a:extLst>
          </p:cNvPr>
          <p:cNvSpPr>
            <a:spLocks xmlns:a="http://schemas.openxmlformats.org/drawingml/2006/main" noGrp="1"/>
          </p:cNvSpPr>
          <p:nvPr/>
        </p:nvSpPr>
        <p:spPr>
          <a:xfrm xmlns:a="http://schemas.openxmlformats.org/drawingml/2006/main">
            <a:off x="10763250" y="6381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ADAEAA"/>
                </a:solidFill>
                <a:latin typeface="Inter"/>
                <a:ea typeface="Inter"/>
                <a:cs typeface="Inter"/>
              </a:defRPr>
            </a:defPPr>
          </a:lstStyle>
          <a:p xmlns:a="http://schemas.openxmlformats.org/drawingml/2006/main">
            <a:pPr>
              <a:defRPr sz="1200" b="0">
                <a:solidFill>
                  <a:srgbClr val="ADAEAA"/>
                </a:solidFill>
                <a:latin typeface="Inter"/>
                <a:ea typeface="Inter"/>
                <a:cs typeface="Inter"/>
              </a:defRPr>
            </a:pPr>
            <a:r>
              <a:rPr sz="1200" b="0">
                <a:solidFill>
                  <a:srgbClr val="ADAEAA"/>
                </a:solidFill>
                <a:latin typeface="Inter"/>
                <a:ea typeface="Inter"/>
                <a:cs typeface="Inter"/>
              </a:rPr>
              <a:t>01 / 05</a:t>
            </a:r>
          </a:p>
        </p:txBody>
      </p:sp>
      <p:sp>
        <p:nvSpPr>
          <p:cNvPr id="4" name="Fake stores imitate&#10;legitimate shops">
            <a:extLst xmlns:a="http://schemas.openxmlformats.org/drawingml/2006/main">
              <a:ext uri="{FF2B5EF4-FFF2-40B4-BE49-F238E27FC236}">
                <a16:creationId xmlns:a16="http://schemas.microsoft.com/office/drawing/2014/main" id="{49EC2181-089D-473D-A97F-3F23F361B0B4}"/>
              </a:ext>
            </a:extLst>
          </p:cNvPr>
          <p:cNvSpPr>
            <a:spLocks xmlns:a="http://schemas.openxmlformats.org/drawingml/2006/main" noGrp="1"/>
          </p:cNvSpPr>
          <p:nvPr/>
        </p:nvSpPr>
        <p:spPr>
          <a:xfrm xmlns:a="http://schemas.openxmlformats.org/drawingml/2006/main">
            <a:off x="609600" y="1028700"/>
            <a:ext cx="10953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000" b="1">
                <a:solidFill>
                  <a:srgbClr val="EEEEE9"/>
                </a:solidFill>
                <a:latin typeface="Rajdhani"/>
                <a:ea typeface="Rajdhani"/>
                <a:cs typeface="Rajdhani"/>
              </a:defRPr>
            </a:defPPr>
          </a:lstStyle>
          <a:p xmlns:a="http://schemas.openxmlformats.org/drawingml/2006/main">
            <a:pPr>
              <a:defRPr sz="6000" b="1">
                <a:solidFill>
                  <a:srgbClr val="EEEEE9"/>
                </a:solidFill>
                <a:latin typeface="Rajdhani"/>
                <a:ea typeface="Rajdhani"/>
                <a:cs typeface="Rajdhani"/>
              </a:defRPr>
            </a:pPr>
            <a:r>
              <a:rPr sz="6000" b="1">
                <a:solidFill>
                  <a:srgbClr val="EEEEE9"/>
                </a:solidFill>
                <a:latin typeface="Rajdhani"/>
                <a:ea typeface="Rajdhani"/>
                <a:cs typeface="Rajdhani"/>
              </a:rPr>
              <a:t>Fake stores imitate</a:t>
            </a:r>
          </a:p>
          <a:p xmlns:a="http://schemas.openxmlformats.org/drawingml/2006/main">
            <a:pPr>
              <a:defRPr sz="6000" b="1">
                <a:solidFill>
                  <a:srgbClr val="EEEEE9"/>
                </a:solidFill>
                <a:latin typeface="Rajdhani"/>
                <a:ea typeface="Rajdhani"/>
                <a:cs typeface="Rajdhani"/>
              </a:defRPr>
            </a:pPr>
            <a:r>
              <a:rPr sz="6000" b="1">
                <a:solidFill>
                  <a:srgbClr val="EEEEE9"/>
                </a:solidFill>
                <a:latin typeface="Rajdhani"/>
                <a:ea typeface="Rajdhani"/>
                <a:cs typeface="Rajdhani"/>
              </a:rPr>
              <a:t>legitimate shops</a:t>
            </a:r>
          </a:p>
        </p:txBody>
      </p:sp>
      <p:sp>
        <p:nvSpPr>
          <p:cNvPr id="5" name="Copied pages can persuade shoppers to pay&#10;or">
            <a:extLst xmlns:a="http://schemas.openxmlformats.org/drawingml/2006/main">
              <a:ext uri="{FF2B5EF4-FFF2-40B4-BE49-F238E27FC236}">
                <a16:creationId xmlns:a16="http://schemas.microsoft.com/office/drawing/2014/main" id="{669A15C3-E19E-4A00-AFA7-75FEB83D0D8E}"/>
              </a:ext>
            </a:extLst>
          </p:cNvPr>
          <p:cNvSpPr>
            <a:spLocks xmlns:a="http://schemas.openxmlformats.org/drawingml/2006/main" noGrp="1"/>
          </p:cNvSpPr>
          <p:nvPr/>
        </p:nvSpPr>
        <p:spPr>
          <a:xfrm xmlns:a="http://schemas.openxmlformats.org/drawingml/2006/main">
            <a:off x="647700" y="34385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0">
                <a:solidFill>
                  <a:srgbClr val="ADAEAA"/>
                </a:solidFill>
                <a:latin typeface="Inter"/>
                <a:ea typeface="Inter"/>
                <a:cs typeface="Inter"/>
              </a:defRPr>
            </a:defPPr>
          </a:lstStyle>
          <a:p xmlns:a="http://schemas.openxmlformats.org/drawingml/2006/main">
            <a:pPr>
              <a:defRPr sz="2250" b="0">
                <a:solidFill>
                  <a:srgbClr val="ADAEAA"/>
                </a:solidFill>
                <a:latin typeface="Inter"/>
                <a:ea typeface="Inter"/>
                <a:cs typeface="Inter"/>
              </a:defRPr>
            </a:pPr>
            <a:r>
              <a:rPr sz="2250" b="0">
                <a:solidFill>
                  <a:srgbClr val="ADAEAA"/>
                </a:solidFill>
                <a:latin typeface="Inter"/>
                <a:ea typeface="Inter"/>
                <a:cs typeface="Inter"/>
              </a:rPr>
              <a:t>Copied pages can persuade shoppers to pay</a:t>
            </a:r>
          </a:p>
          <a:p xmlns:a="http://schemas.openxmlformats.org/drawingml/2006/main">
            <a:pPr>
              <a:defRPr sz="2250" b="0">
                <a:solidFill>
                  <a:srgbClr val="ADAEAA"/>
                </a:solidFill>
                <a:latin typeface="Inter"/>
                <a:ea typeface="Inter"/>
                <a:cs typeface="Inter"/>
              </a:defRPr>
            </a:pPr>
            <a:r>
              <a:rPr sz="2250" b="0">
                <a:solidFill>
                  <a:srgbClr val="ADAEAA"/>
                </a:solidFill>
                <a:latin typeface="Inter"/>
                <a:ea typeface="Inter"/>
                <a:cs typeface="Inter"/>
              </a:rPr>
              <a:t>or share personal details with a criminal.</a:t>
            </a:r>
          </a:p>
        </p:txBody>
      </p:sp>
      <p:sp>
        <p:nvSpPr>
          <p:cNvPr id="6" name="Money lost">
            <a:extLst xmlns:a="http://schemas.openxmlformats.org/drawingml/2006/main">
              <a:ext uri="{FF2B5EF4-FFF2-40B4-BE49-F238E27FC236}">
                <a16:creationId xmlns:a16="http://schemas.microsoft.com/office/drawing/2014/main" id="{C8EF4779-D8C3-4707-9581-03F9853EFB3B}"/>
              </a:ext>
            </a:extLst>
          </p:cNvPr>
          <p:cNvSpPr>
            <a:spLocks xmlns:a="http://schemas.openxmlformats.org/drawingml/2006/main" noGrp="1"/>
          </p:cNvSpPr>
          <p:nvPr/>
        </p:nvSpPr>
        <p:spPr>
          <a:xfrm xmlns:a="http://schemas.openxmlformats.org/drawingml/2006/main">
            <a:off x="638175" y="5086350"/>
            <a:ext cx="461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450" b="1">
                <a:solidFill>
                  <a:srgbClr val="EEEEE9"/>
                </a:solidFill>
                <a:latin typeface="Rajdhani"/>
                <a:ea typeface="Rajdhani"/>
                <a:cs typeface="Rajdhani"/>
              </a:defRPr>
            </a:defPPr>
          </a:lstStyle>
          <a:p xmlns:a="http://schemas.openxmlformats.org/drawingml/2006/main">
            <a:pPr>
              <a:defRPr sz="3450" b="1">
                <a:solidFill>
                  <a:srgbClr val="EEEEE9"/>
                </a:solidFill>
                <a:latin typeface="Rajdhani"/>
                <a:ea typeface="Rajdhani"/>
                <a:cs typeface="Rajdhani"/>
              </a:defRPr>
            </a:pPr>
            <a:r>
              <a:rPr sz="3450" b="1">
                <a:solidFill>
                  <a:srgbClr val="EEEEE9"/>
                </a:solidFill>
                <a:latin typeface="Rajdhani"/>
                <a:ea typeface="Rajdhani"/>
                <a:cs typeface="Rajdhani"/>
              </a:rPr>
              <a:t>Money lost</a:t>
            </a:r>
          </a:p>
        </p:txBody>
      </p:sp>
      <p:sp>
        <p:nvSpPr>
          <p:cNvPr id="7" name="Personal details exposed">
            <a:extLst xmlns:a="http://schemas.openxmlformats.org/drawingml/2006/main">
              <a:ext uri="{FF2B5EF4-FFF2-40B4-BE49-F238E27FC236}">
                <a16:creationId xmlns:a16="http://schemas.microsoft.com/office/drawing/2014/main" id="{E8DEA966-58E2-4694-911A-A90C0229FB0F}"/>
              </a:ext>
            </a:extLst>
          </p:cNvPr>
          <p:cNvSpPr>
            <a:spLocks xmlns:a="http://schemas.openxmlformats.org/drawingml/2006/main" noGrp="1"/>
          </p:cNvSpPr>
          <p:nvPr/>
        </p:nvSpPr>
        <p:spPr>
          <a:xfrm xmlns:a="http://schemas.openxmlformats.org/drawingml/2006/main">
            <a:off x="5829300" y="5086350"/>
            <a:ext cx="581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450" b="1">
                <a:solidFill>
                  <a:srgbClr val="EEEEE9"/>
                </a:solidFill>
                <a:latin typeface="Rajdhani"/>
                <a:ea typeface="Rajdhani"/>
                <a:cs typeface="Rajdhani"/>
              </a:defRPr>
            </a:defPPr>
          </a:lstStyle>
          <a:p xmlns:a="http://schemas.openxmlformats.org/drawingml/2006/main">
            <a:pPr>
              <a:defRPr sz="3450" b="1">
                <a:solidFill>
                  <a:srgbClr val="EEEEE9"/>
                </a:solidFill>
                <a:latin typeface="Rajdhani"/>
                <a:ea typeface="Rajdhani"/>
                <a:cs typeface="Rajdhani"/>
              </a:defRPr>
            </a:pPr>
            <a:r>
              <a:rPr sz="3450" b="1">
                <a:solidFill>
                  <a:srgbClr val="EEEEE9"/>
                </a:solidFill>
                <a:latin typeface="Rajdhani"/>
                <a:ea typeface="Rajdhani"/>
                <a:cs typeface="Rajdhani"/>
              </a:rPr>
              <a:t>Personal details exposed</a:t>
            </a:r>
          </a:p>
        </p:txBody>
      </p:sp>
    </p:spTree>
    <p:extLst>
      <p:ext uri="{BB962C8B-B14F-4D97-AF65-F5344CB8AC3E}">
        <p14:creationId xmlns:p14="http://schemas.microsoft.com/office/powerpoint/2010/main" val="412620111"/>
      </p:ext>
    </p:extLst>
  </p:cSld>
</p:sld>
</file>

<file path=ppt/slides/slide2.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10" name="WHY APPEARANCE IS A WEAK TEST">
            <a:extLst xmlns:a="http://schemas.openxmlformats.org/drawingml/2006/main">
              <a:ext uri="{FF2B5EF4-FFF2-40B4-BE49-F238E27FC236}">
                <a16:creationId xmlns:a16="http://schemas.microsoft.com/office/drawing/2014/main" id="{29225E74-8B4A-41F1-A556-A32FCC9EEA68}"/>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ADAEAA"/>
                </a:solidFill>
                <a:latin typeface="Inter"/>
                <a:ea typeface="Inter"/>
                <a:cs typeface="Inter"/>
              </a:defRPr>
            </a:defPPr>
          </a:lstStyle>
          <a:p xmlns:a="http://schemas.openxmlformats.org/drawingml/2006/main">
            <a:pPr>
              <a:defRPr sz="1275" b="0">
                <a:solidFill>
                  <a:srgbClr val="ADAEAA"/>
                </a:solidFill>
                <a:latin typeface="Inter"/>
                <a:ea typeface="Inter"/>
                <a:cs typeface="Inter"/>
              </a:defRPr>
            </a:pPr>
            <a:r>
              <a:rPr sz="1275" b="0">
                <a:solidFill>
                  <a:srgbClr val="ADAEAA"/>
                </a:solidFill>
                <a:latin typeface="Inter"/>
                <a:ea typeface="Inter"/>
                <a:cs typeface="Inter"/>
              </a:rPr>
              <a:t>WHY APPEARANCE IS A WEAK TEST</a:t>
            </a:r>
          </a:p>
        </p:txBody>
      </p:sp>
      <p:sp>
        <p:nvSpPr>
          <p:cNvPr id="2" name="meadow">
            <a:extLst xmlns:a="http://schemas.openxmlformats.org/drawingml/2006/main">
              <a:ext uri="{FF2B5EF4-FFF2-40B4-BE49-F238E27FC236}">
                <a16:creationId xmlns:a16="http://schemas.microsoft.com/office/drawing/2014/main" id="{30F024F7-AAC9-43B4-A632-7D01F904C4B1}"/>
              </a:ext>
            </a:extLst>
          </p:cNvPr>
          <p:cNvSpPr>
            <a:spLocks xmlns:a="http://schemas.openxmlformats.org/drawingml/2006/main" noGrp="1"/>
          </p:cNvSpPr>
          <p:nvPr/>
        </p:nvSpPr>
        <p:spPr>
          <a:xfrm xmlns:a="http://schemas.openxmlformats.org/drawingml/2006/main">
            <a:off x="609600" y="63246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ADAEAA"/>
                </a:solidFill>
                <a:latin typeface="Rajdhani"/>
                <a:ea typeface="Rajdhani"/>
                <a:cs typeface="Rajdhani"/>
              </a:defRPr>
            </a:defPPr>
          </a:lstStyle>
          <a:p xmlns:a="http://schemas.openxmlformats.org/drawingml/2006/main">
            <a:pPr>
              <a:defRPr sz="1950" b="1">
                <a:solidFill>
                  <a:srgbClr val="ADAEAA"/>
                </a:solidFill>
                <a:latin typeface="Rajdhani"/>
                <a:ea typeface="Rajdhani"/>
                <a:cs typeface="Rajdhani"/>
              </a:defRPr>
            </a:pPr>
            <a:r>
              <a:rPr sz="1950" b="1">
                <a:solidFill>
                  <a:srgbClr val="ADAEAA"/>
                </a:solidFill>
                <a:latin typeface="Rajdhani"/>
                <a:ea typeface="Rajdhani"/>
                <a:cs typeface="Rajdhani"/>
              </a:rPr>
              <a:t>meadow</a:t>
            </a:r>
          </a:p>
        </p:txBody>
      </p:sp>
      <p:sp>
        <p:nvSpPr>
          <p:cNvPr id="3" name="02 / 05">
            <a:extLst xmlns:a="http://schemas.openxmlformats.org/drawingml/2006/main">
              <a:ext uri="{FF2B5EF4-FFF2-40B4-BE49-F238E27FC236}">
                <a16:creationId xmlns:a16="http://schemas.microsoft.com/office/drawing/2014/main" id="{5C8E31FD-3369-4278-807A-F49CFB076B4C}"/>
              </a:ext>
            </a:extLst>
          </p:cNvPr>
          <p:cNvSpPr>
            <a:spLocks xmlns:a="http://schemas.openxmlformats.org/drawingml/2006/main" noGrp="1"/>
          </p:cNvSpPr>
          <p:nvPr/>
        </p:nvSpPr>
        <p:spPr>
          <a:xfrm xmlns:a="http://schemas.openxmlformats.org/drawingml/2006/main">
            <a:off x="10763250" y="6381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ADAEAA"/>
                </a:solidFill>
                <a:latin typeface="Inter"/>
                <a:ea typeface="Inter"/>
                <a:cs typeface="Inter"/>
              </a:defRPr>
            </a:defPPr>
          </a:lstStyle>
          <a:p xmlns:a="http://schemas.openxmlformats.org/drawingml/2006/main">
            <a:pPr>
              <a:defRPr sz="1200" b="0">
                <a:solidFill>
                  <a:srgbClr val="ADAEAA"/>
                </a:solidFill>
                <a:latin typeface="Inter"/>
                <a:ea typeface="Inter"/>
                <a:cs typeface="Inter"/>
              </a:defRPr>
            </a:pPr>
            <a:r>
              <a:rPr sz="1200" b="0">
                <a:solidFill>
                  <a:srgbClr val="ADAEAA"/>
                </a:solidFill>
                <a:latin typeface="Inter"/>
                <a:ea typeface="Inter"/>
                <a:cs typeface="Inter"/>
              </a:rPr>
              <a:t>02 / 05</a:t>
            </a:r>
          </a:p>
        </p:txBody>
      </p:sp>
      <p:sp>
        <p:nvSpPr>
          <p:cNvPr id="4" name="Familiar cues do not&#10;verify the seller">
            <a:extLst xmlns:a="http://schemas.openxmlformats.org/drawingml/2006/main">
              <a:ext uri="{FF2B5EF4-FFF2-40B4-BE49-F238E27FC236}">
                <a16:creationId xmlns:a16="http://schemas.microsoft.com/office/drawing/2014/main" id="{07A161C5-A99B-4D39-BD41-F5608781C3A0}"/>
              </a:ext>
            </a:extLst>
          </p:cNvPr>
          <p:cNvSpPr>
            <a:spLocks xmlns:a="http://schemas.openxmlformats.org/drawingml/2006/main" noGrp="1"/>
          </p:cNvSpPr>
          <p:nvPr/>
        </p:nvSpPr>
        <p:spPr>
          <a:xfrm xmlns:a="http://schemas.openxmlformats.org/drawingml/2006/main">
            <a:off x="609600" y="1028700"/>
            <a:ext cx="109537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100" b="1">
                <a:solidFill>
                  <a:srgbClr val="EEEEE9"/>
                </a:solidFill>
                <a:latin typeface="Rajdhani"/>
                <a:ea typeface="Rajdhani"/>
                <a:cs typeface="Rajdhani"/>
              </a:defRPr>
            </a:defPPr>
          </a:lstStyle>
          <a:p xmlns:a="http://schemas.openxmlformats.org/drawingml/2006/main">
            <a:pPr>
              <a:defRPr sz="5100" b="1">
                <a:solidFill>
                  <a:srgbClr val="EEEEE9"/>
                </a:solidFill>
                <a:latin typeface="Rajdhani"/>
                <a:ea typeface="Rajdhani"/>
                <a:cs typeface="Rajdhani"/>
              </a:defRPr>
            </a:pPr>
            <a:r>
              <a:rPr sz="5100" b="1">
                <a:solidFill>
                  <a:srgbClr val="EEEEE9"/>
                </a:solidFill>
                <a:latin typeface="Rajdhani"/>
                <a:ea typeface="Rajdhani"/>
                <a:cs typeface="Rajdhani"/>
              </a:rPr>
              <a:t>Familiar cues do not</a:t>
            </a:r>
          </a:p>
          <a:p xmlns:a="http://schemas.openxmlformats.org/drawingml/2006/main">
            <a:pPr>
              <a:defRPr sz="5100" b="1">
                <a:solidFill>
                  <a:srgbClr val="EEEEE9"/>
                </a:solidFill>
                <a:latin typeface="Rajdhani"/>
                <a:ea typeface="Rajdhani"/>
                <a:cs typeface="Rajdhani"/>
              </a:defRPr>
            </a:pPr>
            <a:r>
              <a:rPr sz="5100" b="1">
                <a:solidFill>
                  <a:srgbClr val="EEEEE9"/>
                </a:solidFill>
                <a:latin typeface="Rajdhani"/>
                <a:ea typeface="Rajdhani"/>
                <a:cs typeface="Rajdhani"/>
              </a:rPr>
              <a:t>verify the seller</a:t>
            </a:r>
          </a:p>
        </p:txBody>
      </p:sp>
      <p:sp>
        <p:nvSpPr>
          <p:cNvPr id="5" name="Logo + polished design">
            <a:extLst xmlns:a="http://schemas.openxmlformats.org/drawingml/2006/main">
              <a:ext uri="{FF2B5EF4-FFF2-40B4-BE49-F238E27FC236}">
                <a16:creationId xmlns:a16="http://schemas.microsoft.com/office/drawing/2014/main" id="{8CC8DFB3-9650-409C-8692-303FBC52A30B}"/>
              </a:ext>
            </a:extLst>
          </p:cNvPr>
          <p:cNvSpPr>
            <a:spLocks xmlns:a="http://schemas.openxmlformats.org/drawingml/2006/main" noGrp="1"/>
          </p:cNvSpPr>
          <p:nvPr/>
        </p:nvSpPr>
        <p:spPr>
          <a:xfrm xmlns:a="http://schemas.openxmlformats.org/drawingml/2006/main">
            <a:off x="638175" y="3267075"/>
            <a:ext cx="5381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1">
                <a:solidFill>
                  <a:srgbClr val="EEEEE9"/>
                </a:solidFill>
                <a:latin typeface="Rajdhani"/>
                <a:ea typeface="Rajdhani"/>
                <a:cs typeface="Rajdhani"/>
              </a:defRPr>
            </a:defPPr>
          </a:lstStyle>
          <a:p xmlns:a="http://schemas.openxmlformats.org/drawingml/2006/main">
            <a:pPr>
              <a:defRPr sz="3300" b="1">
                <a:solidFill>
                  <a:srgbClr val="EEEEE9"/>
                </a:solidFill>
                <a:latin typeface="Rajdhani"/>
                <a:ea typeface="Rajdhani"/>
                <a:cs typeface="Rajdhani"/>
              </a:defRPr>
            </a:pPr>
            <a:r>
              <a:rPr sz="3300" b="1">
                <a:solidFill>
                  <a:srgbClr val="EEEEE9"/>
                </a:solidFill>
                <a:latin typeface="Rajdhani"/>
                <a:ea typeface="Rajdhani"/>
                <a:cs typeface="Rajdhani"/>
              </a:rPr>
              <a:t>Logo + polished design</a:t>
            </a:r>
          </a:p>
        </p:txBody>
      </p:sp>
      <p:sp>
        <p:nvSpPr>
          <p:cNvPr id="6" name="A fake store can copy both.">
            <a:extLst xmlns:a="http://schemas.openxmlformats.org/drawingml/2006/main">
              <a:ext uri="{FF2B5EF4-FFF2-40B4-BE49-F238E27FC236}">
                <a16:creationId xmlns:a16="http://schemas.microsoft.com/office/drawing/2014/main" id="{DB63A00D-D08C-4A05-8BB8-CC97DA551B26}"/>
              </a:ext>
            </a:extLst>
          </p:cNvPr>
          <p:cNvSpPr>
            <a:spLocks xmlns:a="http://schemas.openxmlformats.org/drawingml/2006/main" noGrp="1"/>
          </p:cNvSpPr>
          <p:nvPr/>
        </p:nvSpPr>
        <p:spPr>
          <a:xfrm xmlns:a="http://schemas.openxmlformats.org/drawingml/2006/main">
            <a:off x="6534150" y="3352800"/>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ADAEAA"/>
                </a:solidFill>
                <a:latin typeface="Inter"/>
                <a:ea typeface="Inter"/>
                <a:cs typeface="Inter"/>
              </a:defRPr>
            </a:defPPr>
          </a:lstStyle>
          <a:p xmlns:a="http://schemas.openxmlformats.org/drawingml/2006/main">
            <a:pPr>
              <a:defRPr sz="2025" b="0">
                <a:solidFill>
                  <a:srgbClr val="ADAEAA"/>
                </a:solidFill>
                <a:latin typeface="Inter"/>
                <a:ea typeface="Inter"/>
                <a:cs typeface="Inter"/>
              </a:defRPr>
            </a:pPr>
            <a:r>
              <a:rPr sz="2025" b="0">
                <a:solidFill>
                  <a:srgbClr val="ADAEAA"/>
                </a:solidFill>
                <a:latin typeface="Inter"/>
                <a:ea typeface="Inter"/>
                <a:cs typeface="Inter"/>
              </a:rPr>
              <a:t>A fake store can copy both.</a:t>
            </a:r>
          </a:p>
        </p:txBody>
      </p:sp>
      <p:sp>
        <p:nvSpPr>
          <p:cNvPr id="7" name="HTTPS">
            <a:extLst xmlns:a="http://schemas.openxmlformats.org/drawingml/2006/main">
              <a:ext uri="{FF2B5EF4-FFF2-40B4-BE49-F238E27FC236}">
                <a16:creationId xmlns:a16="http://schemas.microsoft.com/office/drawing/2014/main" id="{881DCCEC-7E87-410A-B5FA-8E8D1A454056}"/>
              </a:ext>
            </a:extLst>
          </p:cNvPr>
          <p:cNvSpPr>
            <a:spLocks xmlns:a="http://schemas.openxmlformats.org/drawingml/2006/main" noGrp="1"/>
          </p:cNvSpPr>
          <p:nvPr/>
        </p:nvSpPr>
        <p:spPr>
          <a:xfrm xmlns:a="http://schemas.openxmlformats.org/drawingml/2006/main">
            <a:off x="638175" y="4448175"/>
            <a:ext cx="5381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1">
                <a:solidFill>
                  <a:srgbClr val="EEEEE9"/>
                </a:solidFill>
                <a:latin typeface="Rajdhani"/>
                <a:ea typeface="Rajdhani"/>
                <a:cs typeface="Rajdhani"/>
              </a:defRPr>
            </a:defPPr>
          </a:lstStyle>
          <a:p xmlns:a="http://schemas.openxmlformats.org/drawingml/2006/main">
            <a:pPr>
              <a:defRPr sz="3600" b="1">
                <a:solidFill>
                  <a:srgbClr val="EEEEE9"/>
                </a:solidFill>
                <a:latin typeface="Rajdhani"/>
                <a:ea typeface="Rajdhani"/>
                <a:cs typeface="Rajdhani"/>
              </a:defRPr>
            </a:pPr>
            <a:r>
              <a:rPr sz="3600" b="1">
                <a:solidFill>
                  <a:srgbClr val="EEEEE9"/>
                </a:solidFill>
                <a:latin typeface="Rajdhani"/>
                <a:ea typeface="Rajdhani"/>
                <a:cs typeface="Rajdhani"/>
              </a:rPr>
              <a:t>HTTPS</a:t>
            </a:r>
          </a:p>
        </p:txBody>
      </p:sp>
      <p:sp>
        <p:nvSpPr>
          <p:cNvPr id="8" name="Encrypts the connection.&#10;Does not prove the ">
            <a:extLst xmlns:a="http://schemas.openxmlformats.org/drawingml/2006/main">
              <a:ext uri="{FF2B5EF4-FFF2-40B4-BE49-F238E27FC236}">
                <a16:creationId xmlns:a16="http://schemas.microsoft.com/office/drawing/2014/main" id="{26637107-3117-4AA3-8E96-D653F6773A42}"/>
              </a:ext>
            </a:extLst>
          </p:cNvPr>
          <p:cNvSpPr>
            <a:spLocks xmlns:a="http://schemas.openxmlformats.org/drawingml/2006/main" noGrp="1"/>
          </p:cNvSpPr>
          <p:nvPr/>
        </p:nvSpPr>
        <p:spPr>
          <a:xfrm xmlns:a="http://schemas.openxmlformats.org/drawingml/2006/main">
            <a:off x="6534150" y="4400550"/>
            <a:ext cx="5095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ADAEAA"/>
                </a:solidFill>
                <a:latin typeface="Inter"/>
                <a:ea typeface="Inter"/>
                <a:cs typeface="Inter"/>
              </a:defRPr>
            </a:defPPr>
          </a:lstStyle>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Encrypts the connection.</a:t>
            </a:r>
          </a:p>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Does not prove the shop is legitimate.</a:t>
            </a:r>
          </a:p>
        </p:txBody>
      </p:sp>
      <p:sp>
        <p:nvSpPr>
          <p:cNvPr id="9" name="A reassuring page can still belong to an unv">
            <a:extLst xmlns:a="http://schemas.openxmlformats.org/drawingml/2006/main">
              <a:ext uri="{FF2B5EF4-FFF2-40B4-BE49-F238E27FC236}">
                <a16:creationId xmlns:a16="http://schemas.microsoft.com/office/drawing/2014/main" id="{75E793ED-C1C0-4498-85AC-31F8BC1795AC}"/>
              </a:ext>
            </a:extLst>
          </p:cNvPr>
          <p:cNvSpPr>
            <a:spLocks xmlns:a="http://schemas.openxmlformats.org/drawingml/2006/main" noGrp="1"/>
          </p:cNvSpPr>
          <p:nvPr/>
        </p:nvSpPr>
        <p:spPr>
          <a:xfrm xmlns:a="http://schemas.openxmlformats.org/drawingml/2006/main">
            <a:off x="647700" y="566737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EEEEE9"/>
                </a:solidFill>
                <a:latin typeface="Inter"/>
                <a:ea typeface="Inter"/>
                <a:cs typeface="Inter"/>
              </a:defRPr>
            </a:defPPr>
          </a:lstStyle>
          <a:p xmlns:a="http://schemas.openxmlformats.org/drawingml/2006/main">
            <a:pPr>
              <a:defRPr sz="1800" b="0">
                <a:solidFill>
                  <a:srgbClr val="EEEEE9"/>
                </a:solidFill>
                <a:latin typeface="Inter"/>
                <a:ea typeface="Inter"/>
                <a:cs typeface="Inter"/>
              </a:defRPr>
            </a:pPr>
            <a:r>
              <a:rPr sz="1800" b="0">
                <a:solidFill>
                  <a:srgbClr val="EEEEE9"/>
                </a:solidFill>
                <a:latin typeface="Inter"/>
                <a:ea typeface="Inter"/>
                <a:cs typeface="Inter"/>
              </a:rPr>
              <a:t>A reassuring page can still belong to an unverified seller.</a:t>
            </a:r>
          </a:p>
        </p:txBody>
      </p:sp>
    </p:spTree>
    <p:extLst>
      <p:ext uri="{BB962C8B-B14F-4D97-AF65-F5344CB8AC3E}">
        <p14:creationId xmlns:p14="http://schemas.microsoft.com/office/powerpoint/2010/main" val="1393641408"/>
      </p:ext>
    </p:extLst>
  </p:cSld>
</p:sld>
</file>

<file path=ppt/slides/slide3.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11" name="ONE ADDRESS, TWO IMPRESSIONS">
            <a:extLst xmlns:a="http://schemas.openxmlformats.org/drawingml/2006/main">
              <a:ext uri="{FF2B5EF4-FFF2-40B4-BE49-F238E27FC236}">
                <a16:creationId xmlns:a16="http://schemas.microsoft.com/office/drawing/2014/main" id="{7A91FCE8-8979-42BA-BA88-65A89CFA3877}"/>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ADAEAA"/>
                </a:solidFill>
                <a:latin typeface="Inter"/>
                <a:ea typeface="Inter"/>
                <a:cs typeface="Inter"/>
              </a:defRPr>
            </a:defPPr>
          </a:lstStyle>
          <a:p xmlns:a="http://schemas.openxmlformats.org/drawingml/2006/main">
            <a:pPr>
              <a:defRPr sz="1275" b="0">
                <a:solidFill>
                  <a:srgbClr val="ADAEAA"/>
                </a:solidFill>
                <a:latin typeface="Inter"/>
                <a:ea typeface="Inter"/>
                <a:cs typeface="Inter"/>
              </a:defRPr>
            </a:pPr>
            <a:r>
              <a:rPr sz="1275" b="0">
                <a:solidFill>
                  <a:srgbClr val="ADAEAA"/>
                </a:solidFill>
                <a:latin typeface="Inter"/>
                <a:ea typeface="Inter"/>
                <a:cs typeface="Inter"/>
              </a:rPr>
              <a:t>ONE ADDRESS, TWO IMPRESSIONS</a:t>
            </a:r>
          </a:p>
        </p:txBody>
      </p:sp>
      <p:sp>
        <p:nvSpPr>
          <p:cNvPr id="2" name="meadow">
            <a:extLst xmlns:a="http://schemas.openxmlformats.org/drawingml/2006/main">
              <a:ext uri="{FF2B5EF4-FFF2-40B4-BE49-F238E27FC236}">
                <a16:creationId xmlns:a16="http://schemas.microsoft.com/office/drawing/2014/main" id="{4C50396B-2A22-456F-907E-00B5C98E708C}"/>
              </a:ext>
            </a:extLst>
          </p:cNvPr>
          <p:cNvSpPr>
            <a:spLocks xmlns:a="http://schemas.openxmlformats.org/drawingml/2006/main" noGrp="1"/>
          </p:cNvSpPr>
          <p:nvPr/>
        </p:nvSpPr>
        <p:spPr>
          <a:xfrm xmlns:a="http://schemas.openxmlformats.org/drawingml/2006/main">
            <a:off x="609600" y="63246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ADAEAA"/>
                </a:solidFill>
                <a:latin typeface="Rajdhani"/>
                <a:ea typeface="Rajdhani"/>
                <a:cs typeface="Rajdhani"/>
              </a:defRPr>
            </a:defPPr>
          </a:lstStyle>
          <a:p xmlns:a="http://schemas.openxmlformats.org/drawingml/2006/main">
            <a:pPr>
              <a:defRPr sz="1950" b="1">
                <a:solidFill>
                  <a:srgbClr val="ADAEAA"/>
                </a:solidFill>
                <a:latin typeface="Rajdhani"/>
                <a:ea typeface="Rajdhani"/>
                <a:cs typeface="Rajdhani"/>
              </a:defRPr>
            </a:pPr>
            <a:r>
              <a:rPr sz="1950" b="1">
                <a:solidFill>
                  <a:srgbClr val="ADAEAA"/>
                </a:solidFill>
                <a:latin typeface="Rajdhani"/>
                <a:ea typeface="Rajdhani"/>
                <a:cs typeface="Rajdhani"/>
              </a:rPr>
              <a:t>meadow</a:t>
            </a:r>
          </a:p>
        </p:txBody>
      </p:sp>
      <p:sp>
        <p:nvSpPr>
          <p:cNvPr id="3" name="03 / 05">
            <a:extLst xmlns:a="http://schemas.openxmlformats.org/drawingml/2006/main">
              <a:ext uri="{FF2B5EF4-FFF2-40B4-BE49-F238E27FC236}">
                <a16:creationId xmlns:a16="http://schemas.microsoft.com/office/drawing/2014/main" id="{70B4C6CC-A100-407E-B1D8-071C1CEFA22D}"/>
              </a:ext>
            </a:extLst>
          </p:cNvPr>
          <p:cNvSpPr>
            <a:spLocks xmlns:a="http://schemas.openxmlformats.org/drawingml/2006/main" noGrp="1"/>
          </p:cNvSpPr>
          <p:nvPr/>
        </p:nvSpPr>
        <p:spPr>
          <a:xfrm xmlns:a="http://schemas.openxmlformats.org/drawingml/2006/main">
            <a:off x="10763250" y="6381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ADAEAA"/>
                </a:solidFill>
                <a:latin typeface="Inter"/>
                <a:ea typeface="Inter"/>
                <a:cs typeface="Inter"/>
              </a:defRPr>
            </a:defPPr>
          </a:lstStyle>
          <a:p xmlns:a="http://schemas.openxmlformats.org/drawingml/2006/main">
            <a:pPr>
              <a:defRPr sz="1200" b="0">
                <a:solidFill>
                  <a:srgbClr val="ADAEAA"/>
                </a:solidFill>
                <a:latin typeface="Inter"/>
                <a:ea typeface="Inter"/>
                <a:cs typeface="Inter"/>
              </a:defRPr>
            </a:pPr>
            <a:r>
              <a:rPr sz="1200" b="0">
                <a:solidFill>
                  <a:srgbClr val="ADAEAA"/>
                </a:solidFill>
                <a:latin typeface="Inter"/>
                <a:ea typeface="Inter"/>
                <a:cs typeface="Inter"/>
              </a:rPr>
              <a:t>03 / 05</a:t>
            </a:r>
          </a:p>
        </p:txBody>
      </p:sp>
      <p:sp>
        <p:nvSpPr>
          <p:cNvPr id="4" name="A brand name can appear&#10;inside someone else’">
            <a:extLst xmlns:a="http://schemas.openxmlformats.org/drawingml/2006/main">
              <a:ext uri="{FF2B5EF4-FFF2-40B4-BE49-F238E27FC236}">
                <a16:creationId xmlns:a16="http://schemas.microsoft.com/office/drawing/2014/main" id="{58EA44FE-FA1E-439F-A5EE-DA8DD6DE53DB}"/>
              </a:ext>
            </a:extLst>
          </p:cNvPr>
          <p:cNvSpPr>
            <a:spLocks xmlns:a="http://schemas.openxmlformats.org/drawingml/2006/main" noGrp="1"/>
          </p:cNvSpPr>
          <p:nvPr/>
        </p:nvSpPr>
        <p:spPr>
          <a:xfrm xmlns:a="http://schemas.openxmlformats.org/drawingml/2006/main">
            <a:off x="609600" y="1028700"/>
            <a:ext cx="10953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650" b="1">
                <a:solidFill>
                  <a:srgbClr val="EEEEE9"/>
                </a:solidFill>
                <a:latin typeface="Rajdhani"/>
                <a:ea typeface="Rajdhani"/>
                <a:cs typeface="Rajdhani"/>
              </a:defRPr>
            </a:defPPr>
          </a:lstStyle>
          <a:p xmlns:a="http://schemas.openxmlformats.org/drawingml/2006/main">
            <a:pPr>
              <a:defRPr sz="4650" b="1">
                <a:solidFill>
                  <a:srgbClr val="EEEEE9"/>
                </a:solidFill>
                <a:latin typeface="Rajdhani"/>
                <a:ea typeface="Rajdhani"/>
                <a:cs typeface="Rajdhani"/>
              </a:defRPr>
            </a:pPr>
            <a:r>
              <a:rPr sz="4650" b="1">
                <a:solidFill>
                  <a:srgbClr val="EEEEE9"/>
                </a:solidFill>
                <a:latin typeface="Rajdhani"/>
                <a:ea typeface="Rajdhani"/>
                <a:cs typeface="Rajdhani"/>
              </a:rPr>
              <a:t>A brand name can appear</a:t>
            </a:r>
          </a:p>
          <a:p xmlns:a="http://schemas.openxmlformats.org/drawingml/2006/main">
            <a:pPr>
              <a:defRPr sz="4650" b="1">
                <a:solidFill>
                  <a:srgbClr val="EEEEE9"/>
                </a:solidFill>
                <a:latin typeface="Rajdhani"/>
                <a:ea typeface="Rajdhani"/>
                <a:cs typeface="Rajdhani"/>
              </a:defRPr>
            </a:pPr>
            <a:r>
              <a:rPr sz="4650" b="1">
                <a:solidFill>
                  <a:srgbClr val="EEEEE9"/>
                </a:solidFill>
                <a:latin typeface="Rajdhani"/>
                <a:ea typeface="Rajdhani"/>
                <a:cs typeface="Rajdhani"/>
              </a:rPr>
              <a:t>inside someone else’s address</a:t>
            </a:r>
          </a:p>
        </p:txBody>
      </p:sp>
      <p:sp>
        <p:nvSpPr>
          <p:cNvPr id="5" name="brand.example-shop.test">
            <a:extLst xmlns:a="http://schemas.openxmlformats.org/drawingml/2006/main">
              <a:ext uri="{FF2B5EF4-FFF2-40B4-BE49-F238E27FC236}">
                <a16:creationId xmlns:a16="http://schemas.microsoft.com/office/drawing/2014/main" id="{BA24A2A2-5C29-4BF5-B21F-9DEB8D2E0BEC}"/>
              </a:ext>
            </a:extLst>
          </p:cNvPr>
          <p:cNvSpPr>
            <a:spLocks xmlns:a="http://schemas.openxmlformats.org/drawingml/2006/main" noGrp="1"/>
          </p:cNvSpPr>
          <p:nvPr/>
        </p:nvSpPr>
        <p:spPr>
          <a:xfrm xmlns:a="http://schemas.openxmlformats.org/drawingml/2006/main">
            <a:off x="638175" y="30289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250" b="1">
                <a:solidFill>
                  <a:srgbClr val="EEEEE9"/>
                </a:solidFill>
                <a:latin typeface="Rajdhani"/>
                <a:ea typeface="Rajdhani"/>
                <a:cs typeface="Rajdhani"/>
              </a:defRPr>
            </a:defPPr>
          </a:lstStyle>
          <a:p xmlns:a="http://schemas.openxmlformats.org/drawingml/2006/main">
            <a:pPr>
              <a:defRPr sz="5250" b="1">
                <a:solidFill>
                  <a:srgbClr val="EEEEE9"/>
                </a:solidFill>
                <a:latin typeface="Rajdhani"/>
                <a:ea typeface="Rajdhani"/>
                <a:cs typeface="Rajdhani"/>
              </a:defRPr>
            </a:pPr>
            <a:r>
              <a:rPr sz="5250" b="1">
                <a:solidFill>
                  <a:srgbClr val="8C8E8B"/>
                </a:solidFill>
                <a:latin typeface="Rajdhani"/>
                <a:ea typeface="Rajdhani"/>
                <a:cs typeface="Rajdhani"/>
              </a:rPr>
              <a:t>brand.</a:t>
            </a:r>
            <a:r>
              <a:rPr sz="5250" b="1">
                <a:solidFill>
                  <a:srgbClr val="EEEEE9"/>
                </a:solidFill>
                <a:latin typeface="Rajdhani"/>
                <a:ea typeface="Rajdhani"/>
                <a:cs typeface="Rajdhani"/>
              </a:rPr>
              <a:t>example-shop.test</a:t>
            </a:r>
          </a:p>
        </p:txBody>
      </p:sp>
      <p:sp>
        <p:nvSpPr>
          <p:cNvPr id="6" name="A familiar-looking prefix">
            <a:extLst xmlns:a="http://schemas.openxmlformats.org/drawingml/2006/main">
              <a:ext uri="{FF2B5EF4-FFF2-40B4-BE49-F238E27FC236}">
                <a16:creationId xmlns:a16="http://schemas.microsoft.com/office/drawing/2014/main" id="{69E497FD-E30A-455B-844A-6EDBF38A7F95}"/>
              </a:ext>
            </a:extLst>
          </p:cNvPr>
          <p:cNvSpPr>
            <a:spLocks xmlns:a="http://schemas.openxmlformats.org/drawingml/2006/main" noGrp="1"/>
          </p:cNvSpPr>
          <p:nvPr/>
        </p:nvSpPr>
        <p:spPr>
          <a:xfrm xmlns:a="http://schemas.openxmlformats.org/drawingml/2006/main">
            <a:off x="647700" y="42386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ADAEAA"/>
                </a:solidFill>
                <a:latin typeface="Rajdhani"/>
                <a:ea typeface="Rajdhani"/>
                <a:cs typeface="Rajdhani"/>
              </a:defRPr>
            </a:defPPr>
          </a:lstStyle>
          <a:p xmlns:a="http://schemas.openxmlformats.org/drawingml/2006/main">
            <a:pPr>
              <a:defRPr sz="2025" b="1">
                <a:solidFill>
                  <a:srgbClr val="ADAEAA"/>
                </a:solidFill>
                <a:latin typeface="Rajdhani"/>
                <a:ea typeface="Rajdhani"/>
                <a:cs typeface="Rajdhani"/>
              </a:defRPr>
            </a:pPr>
            <a:r>
              <a:rPr sz="2025" b="1">
                <a:solidFill>
                  <a:srgbClr val="ADAEAA"/>
                </a:solidFill>
                <a:latin typeface="Rajdhani"/>
                <a:ea typeface="Rajdhani"/>
                <a:cs typeface="Rajdhani"/>
              </a:rPr>
              <a:t>A familiar-looking prefix</a:t>
            </a:r>
          </a:p>
        </p:txBody>
      </p:sp>
      <p:sp>
        <p:nvSpPr>
          <p:cNvPr id="7" name="The actual domain">
            <a:extLst xmlns:a="http://schemas.openxmlformats.org/drawingml/2006/main">
              <a:ext uri="{FF2B5EF4-FFF2-40B4-BE49-F238E27FC236}">
                <a16:creationId xmlns:a16="http://schemas.microsoft.com/office/drawing/2014/main" id="{A8B02E77-9B8C-467E-85D3-34A02B17994C}"/>
              </a:ext>
            </a:extLst>
          </p:cNvPr>
          <p:cNvSpPr>
            <a:spLocks xmlns:a="http://schemas.openxmlformats.org/drawingml/2006/main" noGrp="1"/>
          </p:cNvSpPr>
          <p:nvPr/>
        </p:nvSpPr>
        <p:spPr>
          <a:xfrm xmlns:a="http://schemas.openxmlformats.org/drawingml/2006/main">
            <a:off x="6067425" y="4238625"/>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ADAEAA"/>
                </a:solidFill>
                <a:latin typeface="Rajdhani"/>
                <a:ea typeface="Rajdhani"/>
                <a:cs typeface="Rajdhani"/>
              </a:defRPr>
            </a:defPPr>
          </a:lstStyle>
          <a:p xmlns:a="http://schemas.openxmlformats.org/drawingml/2006/main">
            <a:pPr>
              <a:defRPr sz="2025" b="1">
                <a:solidFill>
                  <a:srgbClr val="ADAEAA"/>
                </a:solidFill>
                <a:latin typeface="Rajdhani"/>
                <a:ea typeface="Rajdhani"/>
                <a:cs typeface="Rajdhani"/>
              </a:defRPr>
            </a:pPr>
            <a:r>
              <a:rPr sz="2025" b="1">
                <a:solidFill>
                  <a:srgbClr val="ADAEAA"/>
                </a:solidFill>
                <a:latin typeface="Rajdhani"/>
                <a:ea typeface="Rajdhani"/>
                <a:cs typeface="Rajdhani"/>
              </a:rPr>
              <a:t>The actual domain</a:t>
            </a:r>
          </a:p>
        </p:txBody>
      </p:sp>
      <p:sp>
        <p:nvSpPr>
          <p:cNvPr id="8" name="“brand” is only a subdomain.">
            <a:extLst xmlns:a="http://schemas.openxmlformats.org/drawingml/2006/main">
              <a:ext uri="{FF2B5EF4-FFF2-40B4-BE49-F238E27FC236}">
                <a16:creationId xmlns:a16="http://schemas.microsoft.com/office/drawing/2014/main" id="{29F3D5E0-08EB-474F-917A-B6806FD17A5E}"/>
              </a:ext>
            </a:extLst>
          </p:cNvPr>
          <p:cNvSpPr>
            <a:spLocks xmlns:a="http://schemas.openxmlformats.org/drawingml/2006/main" noGrp="1"/>
          </p:cNvSpPr>
          <p:nvPr/>
        </p:nvSpPr>
        <p:spPr>
          <a:xfrm xmlns:a="http://schemas.openxmlformats.org/drawingml/2006/main">
            <a:off x="647700" y="4752975"/>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EEEEE9"/>
                </a:solidFill>
                <a:latin typeface="Inter"/>
                <a:ea typeface="Inter"/>
                <a:cs typeface="Inter"/>
              </a:defRPr>
            </a:defPPr>
          </a:lstStyle>
          <a:p xmlns:a="http://schemas.openxmlformats.org/drawingml/2006/main">
            <a:pPr>
              <a:defRPr sz="1875" b="0">
                <a:solidFill>
                  <a:srgbClr val="EEEEE9"/>
                </a:solidFill>
                <a:latin typeface="Inter"/>
                <a:ea typeface="Inter"/>
                <a:cs typeface="Inter"/>
              </a:defRPr>
            </a:pPr>
            <a:r>
              <a:rPr sz="1875" b="0">
                <a:solidFill>
                  <a:srgbClr val="EEEEE9"/>
                </a:solidFill>
                <a:latin typeface="Inter"/>
                <a:ea typeface="Inter"/>
                <a:cs typeface="Inter"/>
              </a:rPr>
              <a:t>“brand” is only a subdomain.</a:t>
            </a:r>
          </a:p>
        </p:txBody>
      </p:sp>
      <p:sp>
        <p:nvSpPr>
          <p:cNvPr id="9" name="example-shop.test">
            <a:extLst xmlns:a="http://schemas.openxmlformats.org/drawingml/2006/main">
              <a:ext uri="{FF2B5EF4-FFF2-40B4-BE49-F238E27FC236}">
                <a16:creationId xmlns:a16="http://schemas.microsoft.com/office/drawing/2014/main" id="{AE12A5D9-7BFF-46D4-A68A-9D84863CC09E}"/>
              </a:ext>
            </a:extLst>
          </p:cNvPr>
          <p:cNvSpPr>
            <a:spLocks xmlns:a="http://schemas.openxmlformats.org/drawingml/2006/main" noGrp="1"/>
          </p:cNvSpPr>
          <p:nvPr/>
        </p:nvSpPr>
        <p:spPr>
          <a:xfrm xmlns:a="http://schemas.openxmlformats.org/drawingml/2006/main">
            <a:off x="6067425" y="4676775"/>
            <a:ext cx="5524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EEEEE9"/>
                </a:solidFill>
                <a:latin typeface="Rajdhani"/>
                <a:ea typeface="Rajdhani"/>
                <a:cs typeface="Rajdhani"/>
              </a:defRPr>
            </a:defPPr>
          </a:lstStyle>
          <a:p xmlns:a="http://schemas.openxmlformats.org/drawingml/2006/main">
            <a:pPr>
              <a:defRPr sz="3225" b="1">
                <a:solidFill>
                  <a:srgbClr val="EEEEE9"/>
                </a:solidFill>
                <a:latin typeface="Rajdhani"/>
                <a:ea typeface="Rajdhani"/>
                <a:cs typeface="Rajdhani"/>
              </a:defRPr>
            </a:pPr>
            <a:r>
              <a:rPr sz="3225" b="1">
                <a:solidFill>
                  <a:srgbClr val="EEEEE9"/>
                </a:solidFill>
                <a:latin typeface="Rajdhani"/>
                <a:ea typeface="Rajdhani"/>
                <a:cs typeface="Rajdhani"/>
              </a:rPr>
              <a:t>example-shop.test</a:t>
            </a:r>
          </a:p>
        </p:txBody>
      </p:sp>
      <p:sp>
        <p:nvSpPr>
          <p:cNvPr id="10" name="The name alone proves no brand affiliation. ">
            <a:extLst xmlns:a="http://schemas.openxmlformats.org/drawingml/2006/main">
              <a:ext uri="{FF2B5EF4-FFF2-40B4-BE49-F238E27FC236}">
                <a16:creationId xmlns:a16="http://schemas.microsoft.com/office/drawing/2014/main" id="{584C18DD-5A40-4A0E-BC4F-DFB82DB909B3}"/>
              </a:ext>
            </a:extLst>
          </p:cNvPr>
          <p:cNvSpPr>
            <a:spLocks xmlns:a="http://schemas.openxmlformats.org/drawingml/2006/main" noGrp="1"/>
          </p:cNvSpPr>
          <p:nvPr/>
        </p:nvSpPr>
        <p:spPr>
          <a:xfrm xmlns:a="http://schemas.openxmlformats.org/drawingml/2006/main">
            <a:off x="647700" y="574357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ADAEAA"/>
                </a:solidFill>
                <a:latin typeface="Inter"/>
                <a:ea typeface="Inter"/>
                <a:cs typeface="Inter"/>
              </a:defRPr>
            </a:defPPr>
          </a:lstStyle>
          <a:p xmlns:a="http://schemas.openxmlformats.org/drawingml/2006/main">
            <a:pPr>
              <a:defRPr sz="1500" b="0">
                <a:solidFill>
                  <a:srgbClr val="ADAEAA"/>
                </a:solidFill>
                <a:latin typeface="Inter"/>
                <a:ea typeface="Inter"/>
                <a:cs typeface="Inter"/>
              </a:defRPr>
            </a:pPr>
            <a:r>
              <a:rPr sz="1500" b="0">
                <a:solidFill>
                  <a:srgbClr val="ADAEAA"/>
                </a:solidFill>
                <a:latin typeface="Inter"/>
                <a:ea typeface="Inter"/>
                <a:cs typeface="Inter"/>
              </a:rPr>
              <a:t>The name alone proves no brand affiliation. Fictional .test address.</a:t>
            </a:r>
          </a:p>
        </p:txBody>
      </p:sp>
    </p:spTree>
    <p:extLst>
      <p:ext uri="{BB962C8B-B14F-4D97-AF65-F5344CB8AC3E}">
        <p14:creationId xmlns:p14="http://schemas.microsoft.com/office/powerpoint/2010/main" val="1846995274"/>
      </p:ext>
    </p:extLst>
  </p:cSld>
</p:sld>
</file>

<file path=ppt/slides/slide4.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12" name="HOW A FOCUSED FIRST CHECK HELPS">
            <a:extLst xmlns:a="http://schemas.openxmlformats.org/drawingml/2006/main">
              <a:ext uri="{FF2B5EF4-FFF2-40B4-BE49-F238E27FC236}">
                <a16:creationId xmlns:a16="http://schemas.microsoft.com/office/drawing/2014/main" id="{C60821C0-2758-4123-92FE-FB16E1A67DF1}"/>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ADAEAA"/>
                </a:solidFill>
                <a:latin typeface="Inter"/>
                <a:ea typeface="Inter"/>
                <a:cs typeface="Inter"/>
              </a:defRPr>
            </a:defPPr>
          </a:lstStyle>
          <a:p xmlns:a="http://schemas.openxmlformats.org/drawingml/2006/main">
            <a:pPr>
              <a:defRPr sz="1275" b="0">
                <a:solidFill>
                  <a:srgbClr val="ADAEAA"/>
                </a:solidFill>
                <a:latin typeface="Inter"/>
                <a:ea typeface="Inter"/>
                <a:cs typeface="Inter"/>
              </a:defRPr>
            </a:pPr>
            <a:r>
              <a:rPr sz="1275" b="0">
                <a:solidFill>
                  <a:srgbClr val="ADAEAA"/>
                </a:solidFill>
                <a:latin typeface="Inter"/>
                <a:ea typeface="Inter"/>
                <a:cs typeface="Inter"/>
              </a:rPr>
              <a:t>HOW A FOCUSED FIRST CHECK HELPS</a:t>
            </a:r>
          </a:p>
        </p:txBody>
      </p:sp>
      <p:sp>
        <p:nvSpPr>
          <p:cNvPr id="2" name="meadow">
            <a:extLst xmlns:a="http://schemas.openxmlformats.org/drawingml/2006/main">
              <a:ext uri="{FF2B5EF4-FFF2-40B4-BE49-F238E27FC236}">
                <a16:creationId xmlns:a16="http://schemas.microsoft.com/office/drawing/2014/main" id="{CE84B749-B180-4BA7-82B0-4D9FDA51D849}"/>
              </a:ext>
            </a:extLst>
          </p:cNvPr>
          <p:cNvSpPr>
            <a:spLocks xmlns:a="http://schemas.openxmlformats.org/drawingml/2006/main" noGrp="1"/>
          </p:cNvSpPr>
          <p:nvPr/>
        </p:nvSpPr>
        <p:spPr>
          <a:xfrm xmlns:a="http://schemas.openxmlformats.org/drawingml/2006/main">
            <a:off x="609600" y="63246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ADAEAA"/>
                </a:solidFill>
                <a:latin typeface="Rajdhani"/>
                <a:ea typeface="Rajdhani"/>
                <a:cs typeface="Rajdhani"/>
              </a:defRPr>
            </a:defPPr>
          </a:lstStyle>
          <a:p xmlns:a="http://schemas.openxmlformats.org/drawingml/2006/main">
            <a:pPr>
              <a:defRPr sz="1950" b="1">
                <a:solidFill>
                  <a:srgbClr val="ADAEAA"/>
                </a:solidFill>
                <a:latin typeface="Rajdhani"/>
                <a:ea typeface="Rajdhani"/>
                <a:cs typeface="Rajdhani"/>
              </a:defRPr>
            </a:pPr>
            <a:r>
              <a:rPr sz="1950" b="1">
                <a:solidFill>
                  <a:srgbClr val="ADAEAA"/>
                </a:solidFill>
                <a:latin typeface="Rajdhani"/>
                <a:ea typeface="Rajdhani"/>
                <a:cs typeface="Rajdhani"/>
              </a:rPr>
              <a:t>meadow</a:t>
            </a:r>
          </a:p>
        </p:txBody>
      </p:sp>
      <p:sp>
        <p:nvSpPr>
          <p:cNvPr id="3" name="04 / 05">
            <a:extLst xmlns:a="http://schemas.openxmlformats.org/drawingml/2006/main">
              <a:ext uri="{FF2B5EF4-FFF2-40B4-BE49-F238E27FC236}">
                <a16:creationId xmlns:a16="http://schemas.microsoft.com/office/drawing/2014/main" id="{7F0715CA-2B92-4598-92EE-113FA77E1FC3}"/>
              </a:ext>
            </a:extLst>
          </p:cNvPr>
          <p:cNvSpPr>
            <a:spLocks xmlns:a="http://schemas.openxmlformats.org/drawingml/2006/main" noGrp="1"/>
          </p:cNvSpPr>
          <p:nvPr/>
        </p:nvSpPr>
        <p:spPr>
          <a:xfrm xmlns:a="http://schemas.openxmlformats.org/drawingml/2006/main">
            <a:off x="10763250" y="6381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ADAEAA"/>
                </a:solidFill>
                <a:latin typeface="Inter"/>
                <a:ea typeface="Inter"/>
                <a:cs typeface="Inter"/>
              </a:defRPr>
            </a:defPPr>
          </a:lstStyle>
          <a:p xmlns:a="http://schemas.openxmlformats.org/drawingml/2006/main">
            <a:pPr>
              <a:defRPr sz="1200" b="0">
                <a:solidFill>
                  <a:srgbClr val="ADAEAA"/>
                </a:solidFill>
                <a:latin typeface="Inter"/>
                <a:ea typeface="Inter"/>
                <a:cs typeface="Inter"/>
              </a:defRPr>
            </a:pPr>
            <a:r>
              <a:rPr sz="1200" b="0">
                <a:solidFill>
                  <a:srgbClr val="ADAEAA"/>
                </a:solidFill>
                <a:latin typeface="Inter"/>
                <a:ea typeface="Inter"/>
                <a:cs typeface="Inter"/>
              </a:rPr>
              <a:t>04 / 05</a:t>
            </a:r>
          </a:p>
        </p:txBody>
      </p:sp>
      <p:sp>
        <p:nvSpPr>
          <p:cNvPr id="4" name="Different evidence deserves&#10;different warnin">
            <a:extLst xmlns:a="http://schemas.openxmlformats.org/drawingml/2006/main">
              <a:ext uri="{FF2B5EF4-FFF2-40B4-BE49-F238E27FC236}">
                <a16:creationId xmlns:a16="http://schemas.microsoft.com/office/drawing/2014/main" id="{C10BF6CF-43FF-469D-A3EC-FEE3BDF7E9DF}"/>
              </a:ext>
            </a:extLst>
          </p:cNvPr>
          <p:cNvSpPr>
            <a:spLocks xmlns:a="http://schemas.openxmlformats.org/drawingml/2006/main" noGrp="1"/>
          </p:cNvSpPr>
          <p:nvPr/>
        </p:nvSpPr>
        <p:spPr>
          <a:xfrm xmlns:a="http://schemas.openxmlformats.org/drawingml/2006/main">
            <a:off x="609600" y="1028700"/>
            <a:ext cx="10953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875" b="1">
                <a:solidFill>
                  <a:srgbClr val="EEEEE9"/>
                </a:solidFill>
                <a:latin typeface="Rajdhani"/>
                <a:ea typeface="Rajdhani"/>
                <a:cs typeface="Rajdhani"/>
              </a:defRPr>
            </a:defPPr>
          </a:lstStyle>
          <a:p xmlns:a="http://schemas.openxmlformats.org/drawingml/2006/main">
            <a:pPr>
              <a:defRPr sz="4875" b="1">
                <a:solidFill>
                  <a:srgbClr val="EEEEE9"/>
                </a:solidFill>
                <a:latin typeface="Rajdhani"/>
                <a:ea typeface="Rajdhani"/>
                <a:cs typeface="Rajdhani"/>
              </a:defRPr>
            </a:pPr>
            <a:r>
              <a:rPr sz="4875" b="1">
                <a:solidFill>
                  <a:srgbClr val="EEEEE9"/>
                </a:solidFill>
                <a:latin typeface="Rajdhani"/>
                <a:ea typeface="Rajdhani"/>
                <a:cs typeface="Rajdhani"/>
              </a:rPr>
              <a:t>Different evidence deserves</a:t>
            </a:r>
          </a:p>
          <a:p xmlns:a="http://schemas.openxmlformats.org/drawingml/2006/main">
            <a:pPr>
              <a:defRPr sz="4875" b="1">
                <a:solidFill>
                  <a:srgbClr val="EEEEE9"/>
                </a:solidFill>
                <a:latin typeface="Rajdhani"/>
                <a:ea typeface="Rajdhani"/>
                <a:cs typeface="Rajdhani"/>
              </a:defRPr>
            </a:pPr>
            <a:r>
              <a:rPr sz="4875" b="1">
                <a:solidFill>
                  <a:srgbClr val="EEEEE9"/>
                </a:solidFill>
                <a:latin typeface="Rajdhani"/>
                <a:ea typeface="Rajdhani"/>
                <a:cs typeface="Rajdhani"/>
              </a:rPr>
              <a:t>different warnings</a:t>
            </a:r>
          </a:p>
        </p:txBody>
      </p:sp>
      <p:sp>
        <p:nvSpPr>
          <p:cNvPr id="5" name="A newly registered domain">
            <a:extLst xmlns:a="http://schemas.openxmlformats.org/drawingml/2006/main">
              <a:ext uri="{FF2B5EF4-FFF2-40B4-BE49-F238E27FC236}">
                <a16:creationId xmlns:a16="http://schemas.microsoft.com/office/drawing/2014/main" id="{B9E218F9-CF4B-4E2A-BDBA-8A47082E047A}"/>
              </a:ext>
            </a:extLst>
          </p:cNvPr>
          <p:cNvSpPr>
            <a:spLocks xmlns:a="http://schemas.openxmlformats.org/drawingml/2006/main" noGrp="1"/>
          </p:cNvSpPr>
          <p:nvPr/>
        </p:nvSpPr>
        <p:spPr>
          <a:xfrm xmlns:a="http://schemas.openxmlformats.org/drawingml/2006/main">
            <a:off x="638175" y="311467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1">
                <a:solidFill>
                  <a:srgbClr val="EEEEE9"/>
                </a:solidFill>
                <a:latin typeface="Rajdhani"/>
                <a:ea typeface="Rajdhani"/>
                <a:cs typeface="Rajdhani"/>
              </a:defRPr>
            </a:defPPr>
          </a:lstStyle>
          <a:p xmlns:a="http://schemas.openxmlformats.org/drawingml/2006/main">
            <a:pPr>
              <a:defRPr sz="2925" b="1">
                <a:solidFill>
                  <a:srgbClr val="EEEEE9"/>
                </a:solidFill>
                <a:latin typeface="Rajdhani"/>
                <a:ea typeface="Rajdhani"/>
                <a:cs typeface="Rajdhani"/>
              </a:defRPr>
            </a:pPr>
            <a:r>
              <a:rPr sz="2925" b="1">
                <a:solidFill>
                  <a:srgbClr val="EEEEE9"/>
                </a:solidFill>
                <a:latin typeface="Rajdhani"/>
                <a:ea typeface="Rajdhani"/>
                <a:cs typeface="Rajdhani"/>
              </a:rPr>
              <a:t>A newly registered domain</a:t>
            </a:r>
          </a:p>
        </p:txBody>
      </p:sp>
      <p:sp>
        <p:nvSpPr>
          <p:cNvPr id="6" name="A reason to examine the shop further.">
            <a:extLst xmlns:a="http://schemas.openxmlformats.org/drawingml/2006/main">
              <a:ext uri="{FF2B5EF4-FFF2-40B4-BE49-F238E27FC236}">
                <a16:creationId xmlns:a16="http://schemas.microsoft.com/office/drawing/2014/main" id="{5B9865EB-1015-40F8-AFF7-C4DEE66CE1A9}"/>
              </a:ext>
            </a:extLst>
          </p:cNvPr>
          <p:cNvSpPr>
            <a:spLocks xmlns:a="http://schemas.openxmlformats.org/drawingml/2006/main" noGrp="1"/>
          </p:cNvSpPr>
          <p:nvPr/>
        </p:nvSpPr>
        <p:spPr>
          <a:xfrm xmlns:a="http://schemas.openxmlformats.org/drawingml/2006/main">
            <a:off x="657225" y="3714750"/>
            <a:ext cx="700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ADAEAA"/>
                </a:solidFill>
                <a:latin typeface="Inter"/>
                <a:ea typeface="Inter"/>
                <a:cs typeface="Inter"/>
              </a:defRPr>
            </a:defPPr>
          </a:lstStyle>
          <a:p xmlns:a="http://schemas.openxmlformats.org/drawingml/2006/main">
            <a:pPr>
              <a:defRPr sz="1800" b="0">
                <a:solidFill>
                  <a:srgbClr val="ADAEAA"/>
                </a:solidFill>
                <a:latin typeface="Inter"/>
                <a:ea typeface="Inter"/>
                <a:cs typeface="Inter"/>
              </a:defRPr>
            </a:pPr>
            <a:r>
              <a:rPr sz="1800" b="0">
                <a:solidFill>
                  <a:srgbClr val="ADAEAA"/>
                </a:solidFill>
                <a:latin typeface="Inter"/>
                <a:ea typeface="Inter"/>
                <a:cs typeface="Inter"/>
              </a:rPr>
              <a:t>A reason to examine the shop further.</a:t>
            </a:r>
          </a:p>
        </p:txBody>
      </p:sp>
      <p:sp>
        <p:nvSpPr>
          <p:cNvPr id="7" name="REVIEW">
            <a:extLst xmlns:a="http://schemas.openxmlformats.org/drawingml/2006/main">
              <a:ext uri="{FF2B5EF4-FFF2-40B4-BE49-F238E27FC236}">
                <a16:creationId xmlns:a16="http://schemas.microsoft.com/office/drawing/2014/main" id="{94075DA6-5407-42E0-A50F-9A31FDF91D0E}"/>
              </a:ext>
            </a:extLst>
          </p:cNvPr>
          <p:cNvSpPr>
            <a:spLocks xmlns:a="http://schemas.openxmlformats.org/drawingml/2006/main" noGrp="1"/>
          </p:cNvSpPr>
          <p:nvPr/>
        </p:nvSpPr>
        <p:spPr>
          <a:xfrm xmlns:a="http://schemas.openxmlformats.org/drawingml/2006/main">
            <a:off x="8486775" y="32766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EEEEE9"/>
                </a:solidFill>
                <a:latin typeface="Rajdhani"/>
                <a:ea typeface="Rajdhani"/>
                <a:cs typeface="Rajdhani"/>
              </a:defRPr>
            </a:defPPr>
          </a:lstStyle>
          <a:p xmlns:a="http://schemas.openxmlformats.org/drawingml/2006/main">
            <a:pPr>
              <a:defRPr sz="3225" b="1">
                <a:solidFill>
                  <a:srgbClr val="EEEEE9"/>
                </a:solidFill>
                <a:latin typeface="Rajdhani"/>
                <a:ea typeface="Rajdhani"/>
                <a:cs typeface="Rajdhani"/>
              </a:defRPr>
            </a:pPr>
            <a:r>
              <a:rPr sz="3225" b="1">
                <a:solidFill>
                  <a:srgbClr val="EEEEE9"/>
                </a:solidFill>
                <a:latin typeface="Rajdhani"/>
                <a:ea typeface="Rajdhani"/>
                <a:cs typeface="Rajdhani"/>
              </a:rPr>
              <a:t>REVIEW</a:t>
            </a:r>
          </a:p>
        </p:txBody>
      </p:sp>
      <p:sp>
        <p:nvSpPr>
          <p:cNvPr id="8" name="Sensitive fields on an HTTP page">
            <a:extLst xmlns:a="http://schemas.openxmlformats.org/drawingml/2006/main">
              <a:ext uri="{FF2B5EF4-FFF2-40B4-BE49-F238E27FC236}">
                <a16:creationId xmlns:a16="http://schemas.microsoft.com/office/drawing/2014/main" id="{B9A38445-55F0-4745-B691-13706BCDB9A1}"/>
              </a:ext>
            </a:extLst>
          </p:cNvPr>
          <p:cNvSpPr>
            <a:spLocks xmlns:a="http://schemas.openxmlformats.org/drawingml/2006/main" noGrp="1"/>
          </p:cNvSpPr>
          <p:nvPr/>
        </p:nvSpPr>
        <p:spPr>
          <a:xfrm xmlns:a="http://schemas.openxmlformats.org/drawingml/2006/main">
            <a:off x="638175" y="4343400"/>
            <a:ext cx="7477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1">
                <a:solidFill>
                  <a:srgbClr val="EEEEE9"/>
                </a:solidFill>
                <a:latin typeface="Rajdhani"/>
                <a:ea typeface="Rajdhani"/>
                <a:cs typeface="Rajdhani"/>
              </a:defRPr>
            </a:defPPr>
          </a:lstStyle>
          <a:p xmlns:a="http://schemas.openxmlformats.org/drawingml/2006/main">
            <a:pPr>
              <a:defRPr sz="2925" b="1">
                <a:solidFill>
                  <a:srgbClr val="EEEEE9"/>
                </a:solidFill>
                <a:latin typeface="Rajdhani"/>
                <a:ea typeface="Rajdhani"/>
                <a:cs typeface="Rajdhani"/>
              </a:defRPr>
            </a:pPr>
            <a:r>
              <a:rPr sz="2925" b="1">
                <a:solidFill>
                  <a:srgbClr val="EEEEE9"/>
                </a:solidFill>
                <a:latin typeface="Rajdhani"/>
                <a:ea typeface="Rajdhani"/>
                <a:cs typeface="Rajdhani"/>
              </a:rPr>
              <a:t>Sensitive fields on an HTTP page</a:t>
            </a:r>
          </a:p>
        </p:txBody>
      </p:sp>
      <p:sp>
        <p:nvSpPr>
          <p:cNvPr id="9" name="An unencrypted page asks for private details">
            <a:extLst xmlns:a="http://schemas.openxmlformats.org/drawingml/2006/main">
              <a:ext uri="{FF2B5EF4-FFF2-40B4-BE49-F238E27FC236}">
                <a16:creationId xmlns:a16="http://schemas.microsoft.com/office/drawing/2014/main" id="{3BAF30E4-901B-4219-85D5-B073549779FC}"/>
              </a:ext>
            </a:extLst>
          </p:cNvPr>
          <p:cNvSpPr>
            <a:spLocks xmlns:a="http://schemas.openxmlformats.org/drawingml/2006/main" noGrp="1"/>
          </p:cNvSpPr>
          <p:nvPr/>
        </p:nvSpPr>
        <p:spPr>
          <a:xfrm xmlns:a="http://schemas.openxmlformats.org/drawingml/2006/main">
            <a:off x="657225" y="4972050"/>
            <a:ext cx="738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ADAEAA"/>
                </a:solidFill>
                <a:latin typeface="Inter"/>
                <a:ea typeface="Inter"/>
                <a:cs typeface="Inter"/>
              </a:defRPr>
            </a:defPPr>
          </a:lstStyle>
          <a:p xmlns:a="http://schemas.openxmlformats.org/drawingml/2006/main">
            <a:pPr>
              <a:defRPr sz="1800" b="0">
                <a:solidFill>
                  <a:srgbClr val="ADAEAA"/>
                </a:solidFill>
                <a:latin typeface="Inter"/>
                <a:ea typeface="Inter"/>
                <a:cs typeface="Inter"/>
              </a:defRPr>
            </a:pPr>
            <a:r>
              <a:rPr sz="1800" b="0">
                <a:solidFill>
                  <a:srgbClr val="ADAEAA"/>
                </a:solidFill>
                <a:latin typeface="Inter"/>
                <a:ea typeface="Inter"/>
                <a:cs typeface="Inter"/>
              </a:rPr>
              <a:t>An unencrypted page asks for private details.</a:t>
            </a:r>
          </a:p>
        </p:txBody>
      </p:sp>
      <p:sp>
        <p:nvSpPr>
          <p:cNvPr id="10" name="HIGH RISK">
            <a:extLst xmlns:a="http://schemas.openxmlformats.org/drawingml/2006/main">
              <a:ext uri="{FF2B5EF4-FFF2-40B4-BE49-F238E27FC236}">
                <a16:creationId xmlns:a16="http://schemas.microsoft.com/office/drawing/2014/main" id="{B809D966-BD8E-4856-802B-403894B18A74}"/>
              </a:ext>
            </a:extLst>
          </p:cNvPr>
          <p:cNvSpPr>
            <a:spLocks xmlns:a="http://schemas.openxmlformats.org/drawingml/2006/main" noGrp="1"/>
          </p:cNvSpPr>
          <p:nvPr/>
        </p:nvSpPr>
        <p:spPr>
          <a:xfrm xmlns:a="http://schemas.openxmlformats.org/drawingml/2006/main">
            <a:off x="8486775" y="45339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EEEEE9"/>
                </a:solidFill>
                <a:latin typeface="Rajdhani"/>
                <a:ea typeface="Rajdhani"/>
                <a:cs typeface="Rajdhani"/>
              </a:defRPr>
            </a:defPPr>
          </a:lstStyle>
          <a:p xmlns:a="http://schemas.openxmlformats.org/drawingml/2006/main">
            <a:pPr>
              <a:defRPr sz="3225" b="1">
                <a:solidFill>
                  <a:srgbClr val="EEEEE9"/>
                </a:solidFill>
                <a:latin typeface="Rajdhani"/>
                <a:ea typeface="Rajdhani"/>
                <a:cs typeface="Rajdhani"/>
              </a:defRPr>
            </a:pPr>
            <a:r>
              <a:rPr sz="3225" b="1">
                <a:solidFill>
                  <a:srgbClr val="EEEEE9"/>
                </a:solidFill>
                <a:latin typeface="Rajdhani"/>
                <a:ea typeface="Rajdhani"/>
                <a:cs typeface="Rajdhani"/>
              </a:rPr>
              <a:t>HIGH RISK</a:t>
            </a:r>
          </a:p>
        </p:txBody>
      </p:sp>
      <p:sp>
        <p:nvSpPr>
          <p:cNvPr id="11" name="Meadow uses explicit rules. Missing informat">
            <a:extLst xmlns:a="http://schemas.openxmlformats.org/drawingml/2006/main">
              <a:ext uri="{FF2B5EF4-FFF2-40B4-BE49-F238E27FC236}">
                <a16:creationId xmlns:a16="http://schemas.microsoft.com/office/drawing/2014/main" id="{ACE051EC-FE2C-4575-962B-E6B85186A80A}"/>
              </a:ext>
            </a:extLst>
          </p:cNvPr>
          <p:cNvSpPr>
            <a:spLocks xmlns:a="http://schemas.openxmlformats.org/drawingml/2006/main" noGrp="1"/>
          </p:cNvSpPr>
          <p:nvPr/>
        </p:nvSpPr>
        <p:spPr>
          <a:xfrm xmlns:a="http://schemas.openxmlformats.org/drawingml/2006/main">
            <a:off x="647700" y="578167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ADAEAA"/>
                </a:solidFill>
                <a:latin typeface="Inter"/>
                <a:ea typeface="Inter"/>
                <a:cs typeface="Inter"/>
              </a:defRPr>
            </a:defPPr>
          </a:lstStyle>
          <a:p xmlns:a="http://schemas.openxmlformats.org/drawingml/2006/main">
            <a:pPr>
              <a:defRPr sz="1650" b="0">
                <a:solidFill>
                  <a:srgbClr val="ADAEAA"/>
                </a:solidFill>
                <a:latin typeface="Inter"/>
                <a:ea typeface="Inter"/>
                <a:cs typeface="Inter"/>
              </a:defRPr>
            </a:pPr>
            <a:r>
              <a:rPr sz="1650" b="0">
                <a:solidFill>
                  <a:srgbClr val="ADAEAA"/>
                </a:solidFill>
                <a:latin typeface="Inter"/>
                <a:ea typeface="Inter"/>
                <a:cs typeface="Inter"/>
              </a:rPr>
              <a:t>Meadow uses explicit rules. Missing information stays unknown.</a:t>
            </a:r>
          </a:p>
        </p:txBody>
      </p:sp>
    </p:spTree>
    <p:extLst>
      <p:ext uri="{BB962C8B-B14F-4D97-AF65-F5344CB8AC3E}">
        <p14:creationId xmlns:p14="http://schemas.microsoft.com/office/powerpoint/2010/main" val="766295328"/>
      </p:ext>
    </p:extLst>
  </p:cSld>
</p:sld>
</file>

<file path=ppt/slides/slide5.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10" name="LIVE DEMONSTRATION">
            <a:extLst xmlns:a="http://schemas.openxmlformats.org/drawingml/2006/main">
              <a:ext uri="{FF2B5EF4-FFF2-40B4-BE49-F238E27FC236}">
                <a16:creationId xmlns:a16="http://schemas.microsoft.com/office/drawing/2014/main" id="{AA80F537-91DC-42A8-812B-82A86E533C49}"/>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ADAEAA"/>
                </a:solidFill>
                <a:latin typeface="Inter"/>
                <a:ea typeface="Inter"/>
                <a:cs typeface="Inter"/>
              </a:defRPr>
            </a:defPPr>
          </a:lstStyle>
          <a:p xmlns:a="http://schemas.openxmlformats.org/drawingml/2006/main">
            <a:pPr>
              <a:defRPr sz="1275" b="0">
                <a:solidFill>
                  <a:srgbClr val="ADAEAA"/>
                </a:solidFill>
                <a:latin typeface="Inter"/>
                <a:ea typeface="Inter"/>
                <a:cs typeface="Inter"/>
              </a:defRPr>
            </a:pPr>
            <a:r>
              <a:rPr sz="1275" b="0">
                <a:solidFill>
                  <a:srgbClr val="ADAEAA"/>
                </a:solidFill>
                <a:latin typeface="Inter"/>
                <a:ea typeface="Inter"/>
                <a:cs typeface="Inter"/>
              </a:rPr>
              <a:t>LIVE DEMONSTRATION</a:t>
            </a:r>
          </a:p>
        </p:txBody>
      </p:sp>
      <p:sp>
        <p:nvSpPr>
          <p:cNvPr id="2" name="meadow">
            <a:extLst xmlns:a="http://schemas.openxmlformats.org/drawingml/2006/main">
              <a:ext uri="{FF2B5EF4-FFF2-40B4-BE49-F238E27FC236}">
                <a16:creationId xmlns:a16="http://schemas.microsoft.com/office/drawing/2014/main" id="{6959045E-125F-486D-8A33-E8E2691FB72F}"/>
              </a:ext>
            </a:extLst>
          </p:cNvPr>
          <p:cNvSpPr>
            <a:spLocks xmlns:a="http://schemas.openxmlformats.org/drawingml/2006/main" noGrp="1"/>
          </p:cNvSpPr>
          <p:nvPr/>
        </p:nvSpPr>
        <p:spPr>
          <a:xfrm xmlns:a="http://schemas.openxmlformats.org/drawingml/2006/main">
            <a:off x="609600" y="63246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ADAEAA"/>
                </a:solidFill>
                <a:latin typeface="Rajdhani"/>
                <a:ea typeface="Rajdhani"/>
                <a:cs typeface="Rajdhani"/>
              </a:defRPr>
            </a:defPPr>
          </a:lstStyle>
          <a:p xmlns:a="http://schemas.openxmlformats.org/drawingml/2006/main">
            <a:pPr>
              <a:defRPr sz="1950" b="1">
                <a:solidFill>
                  <a:srgbClr val="ADAEAA"/>
                </a:solidFill>
                <a:latin typeface="Rajdhani"/>
                <a:ea typeface="Rajdhani"/>
                <a:cs typeface="Rajdhani"/>
              </a:defRPr>
            </a:pPr>
            <a:r>
              <a:rPr sz="1950" b="1">
                <a:solidFill>
                  <a:srgbClr val="ADAEAA"/>
                </a:solidFill>
                <a:latin typeface="Rajdhani"/>
                <a:ea typeface="Rajdhani"/>
                <a:cs typeface="Rajdhani"/>
              </a:rPr>
              <a:t>meadow</a:t>
            </a:r>
          </a:p>
        </p:txBody>
      </p:sp>
      <p:sp>
        <p:nvSpPr>
          <p:cNvPr id="3" name="05 / 05">
            <a:extLst xmlns:a="http://schemas.openxmlformats.org/drawingml/2006/main">
              <a:ext uri="{FF2B5EF4-FFF2-40B4-BE49-F238E27FC236}">
                <a16:creationId xmlns:a16="http://schemas.microsoft.com/office/drawing/2014/main" id="{9906E761-125A-4B2D-BAF5-59472CD31C23}"/>
              </a:ext>
            </a:extLst>
          </p:cNvPr>
          <p:cNvSpPr>
            <a:spLocks xmlns:a="http://schemas.openxmlformats.org/drawingml/2006/main" noGrp="1"/>
          </p:cNvSpPr>
          <p:nvPr/>
        </p:nvSpPr>
        <p:spPr>
          <a:xfrm xmlns:a="http://schemas.openxmlformats.org/drawingml/2006/main">
            <a:off x="10763250" y="6381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ADAEAA"/>
                </a:solidFill>
                <a:latin typeface="Inter"/>
                <a:ea typeface="Inter"/>
                <a:cs typeface="Inter"/>
              </a:defRPr>
            </a:defPPr>
          </a:lstStyle>
          <a:p xmlns:a="http://schemas.openxmlformats.org/drawingml/2006/main">
            <a:pPr>
              <a:defRPr sz="1200" b="0">
                <a:solidFill>
                  <a:srgbClr val="ADAEAA"/>
                </a:solidFill>
                <a:latin typeface="Inter"/>
                <a:ea typeface="Inter"/>
                <a:cs typeface="Inter"/>
              </a:defRPr>
            </a:pPr>
            <a:r>
              <a:rPr sz="1200" b="0">
                <a:solidFill>
                  <a:srgbClr val="ADAEAA"/>
                </a:solidFill>
                <a:latin typeface="Inter"/>
                <a:ea typeface="Inter"/>
                <a:cs typeface="Inter"/>
              </a:rPr>
              <a:t>05 / 05</a:t>
            </a:r>
          </a:p>
        </p:txBody>
      </p:sp>
      <p:sp>
        <p:nvSpPr>
          <p:cNvPr id="4" name="Can the warning arrive&#10;before details are en">
            <a:extLst xmlns:a="http://schemas.openxmlformats.org/drawingml/2006/main">
              <a:ext uri="{FF2B5EF4-FFF2-40B4-BE49-F238E27FC236}">
                <a16:creationId xmlns:a16="http://schemas.microsoft.com/office/drawing/2014/main" id="{23AB54F9-9EB1-4A05-B7FC-39F7C2D0776E}"/>
              </a:ext>
            </a:extLst>
          </p:cNvPr>
          <p:cNvSpPr>
            <a:spLocks xmlns:a="http://schemas.openxmlformats.org/drawingml/2006/main" noGrp="1"/>
          </p:cNvSpPr>
          <p:nvPr/>
        </p:nvSpPr>
        <p:spPr>
          <a:xfrm xmlns:a="http://schemas.openxmlformats.org/drawingml/2006/main">
            <a:off x="609600" y="1028700"/>
            <a:ext cx="1095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250" b="1">
                <a:solidFill>
                  <a:srgbClr val="EEEEE9"/>
                </a:solidFill>
                <a:latin typeface="Rajdhani"/>
                <a:ea typeface="Rajdhani"/>
                <a:cs typeface="Rajdhani"/>
              </a:defRPr>
            </a:defPPr>
          </a:lstStyle>
          <a:p xmlns:a="http://schemas.openxmlformats.org/drawingml/2006/main">
            <a:pPr>
              <a:defRPr sz="5250" b="1">
                <a:solidFill>
                  <a:srgbClr val="EEEEE9"/>
                </a:solidFill>
                <a:latin typeface="Rajdhani"/>
                <a:ea typeface="Rajdhani"/>
                <a:cs typeface="Rajdhani"/>
              </a:defRPr>
            </a:pPr>
            <a:r>
              <a:rPr sz="5250" b="1">
                <a:solidFill>
                  <a:srgbClr val="EEEEE9"/>
                </a:solidFill>
                <a:latin typeface="Rajdhani"/>
                <a:ea typeface="Rajdhani"/>
                <a:cs typeface="Rajdhani"/>
              </a:rPr>
              <a:t>Can the warning arrive</a:t>
            </a:r>
          </a:p>
          <a:p xmlns:a="http://schemas.openxmlformats.org/drawingml/2006/main">
            <a:pPr>
              <a:defRPr sz="5250" b="1">
                <a:solidFill>
                  <a:srgbClr val="EEEEE9"/>
                </a:solidFill>
                <a:latin typeface="Rajdhani"/>
                <a:ea typeface="Rajdhani"/>
                <a:cs typeface="Rajdhani"/>
              </a:defRPr>
            </a:pPr>
            <a:r>
              <a:rPr sz="5250" b="1">
                <a:solidFill>
                  <a:srgbClr val="EEEEE9"/>
                </a:solidFill>
                <a:latin typeface="Rajdhani"/>
                <a:ea typeface="Rajdhani"/>
                <a:cs typeface="Rajdhani"/>
              </a:rPr>
              <a:t>before details are entered?</a:t>
            </a:r>
          </a:p>
        </p:txBody>
      </p:sp>
      <p:sp>
        <p:nvSpPr>
          <p:cNvPr id="5" name="Unsafe checkout">
            <a:extLst xmlns:a="http://schemas.openxmlformats.org/drawingml/2006/main">
              <a:ext uri="{FF2B5EF4-FFF2-40B4-BE49-F238E27FC236}">
                <a16:creationId xmlns:a16="http://schemas.microsoft.com/office/drawing/2014/main" id="{D10B0D64-CB41-48CE-933B-9DDF623ACD89}"/>
              </a:ext>
            </a:extLst>
          </p:cNvPr>
          <p:cNvSpPr>
            <a:spLocks xmlns:a="http://schemas.openxmlformats.org/drawingml/2006/main" noGrp="1"/>
          </p:cNvSpPr>
          <p:nvPr/>
        </p:nvSpPr>
        <p:spPr>
          <a:xfrm xmlns:a="http://schemas.openxmlformats.org/drawingml/2006/main">
            <a:off x="638175" y="3371850"/>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1">
                <a:solidFill>
                  <a:srgbClr val="EEEEE9"/>
                </a:solidFill>
                <a:latin typeface="Rajdhani"/>
                <a:ea typeface="Rajdhani"/>
                <a:cs typeface="Rajdhani"/>
              </a:defRPr>
            </a:defPPr>
          </a:lstStyle>
          <a:p xmlns:a="http://schemas.openxmlformats.org/drawingml/2006/main">
            <a:pPr>
              <a:defRPr sz="3300" b="1">
                <a:solidFill>
                  <a:srgbClr val="EEEEE9"/>
                </a:solidFill>
                <a:latin typeface="Rajdhani"/>
                <a:ea typeface="Rajdhani"/>
                <a:cs typeface="Rajdhani"/>
              </a:defRPr>
            </a:pPr>
            <a:r>
              <a:rPr sz="3300" b="1">
                <a:solidFill>
                  <a:srgbClr val="EEEEE9"/>
                </a:solidFill>
                <a:latin typeface="Rajdhani"/>
                <a:ea typeface="Rajdhani"/>
                <a:cs typeface="Rajdhani"/>
              </a:rPr>
              <a:t>Unsafe checkout</a:t>
            </a:r>
          </a:p>
        </p:txBody>
      </p:sp>
      <p:sp>
        <p:nvSpPr>
          <p:cNvPr id="6" name="Reveal a sensitive form on HTTP.&#10;Watch the w">
            <a:extLst xmlns:a="http://schemas.openxmlformats.org/drawingml/2006/main">
              <a:ext uri="{FF2B5EF4-FFF2-40B4-BE49-F238E27FC236}">
                <a16:creationId xmlns:a16="http://schemas.microsoft.com/office/drawing/2014/main" id="{581E6274-A884-4100-9748-FB139398EF93}"/>
              </a:ext>
            </a:extLst>
          </p:cNvPr>
          <p:cNvSpPr>
            <a:spLocks xmlns:a="http://schemas.openxmlformats.org/drawingml/2006/main" noGrp="1"/>
          </p:cNvSpPr>
          <p:nvPr/>
        </p:nvSpPr>
        <p:spPr>
          <a:xfrm xmlns:a="http://schemas.openxmlformats.org/drawingml/2006/main">
            <a:off x="657225" y="4105275"/>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ADAEAA"/>
                </a:solidFill>
                <a:latin typeface="Inter"/>
                <a:ea typeface="Inter"/>
                <a:cs typeface="Inter"/>
              </a:defRPr>
            </a:defPPr>
          </a:lstStyle>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Reveal a sensitive form on HTTP.</a:t>
            </a:r>
          </a:p>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Watch the warning become stronger.</a:t>
            </a:r>
          </a:p>
        </p:txBody>
      </p:sp>
      <p:sp>
        <p:nvSpPr>
          <p:cNvPr id="7" name="A new independent shop">
            <a:extLst xmlns:a="http://schemas.openxmlformats.org/drawingml/2006/main">
              <a:ext uri="{FF2B5EF4-FFF2-40B4-BE49-F238E27FC236}">
                <a16:creationId xmlns:a16="http://schemas.microsoft.com/office/drawing/2014/main" id="{7AEB0E3F-328F-49C6-A5A1-9153383A9499}"/>
              </a:ext>
            </a:extLst>
          </p:cNvPr>
          <p:cNvSpPr>
            <a:spLocks xmlns:a="http://schemas.openxmlformats.org/drawingml/2006/main" noGrp="1"/>
          </p:cNvSpPr>
          <p:nvPr/>
        </p:nvSpPr>
        <p:spPr>
          <a:xfrm xmlns:a="http://schemas.openxmlformats.org/drawingml/2006/main">
            <a:off x="6477000" y="33718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000" b="1">
                <a:solidFill>
                  <a:srgbClr val="EEEEE9"/>
                </a:solidFill>
                <a:latin typeface="Rajdhani"/>
                <a:ea typeface="Rajdhani"/>
                <a:cs typeface="Rajdhani"/>
              </a:defRPr>
            </a:defPPr>
          </a:lstStyle>
          <a:p xmlns:a="http://schemas.openxmlformats.org/drawingml/2006/main">
            <a:pPr>
              <a:defRPr sz="3000" b="1">
                <a:solidFill>
                  <a:srgbClr val="EEEEE9"/>
                </a:solidFill>
                <a:latin typeface="Rajdhani"/>
                <a:ea typeface="Rajdhani"/>
                <a:cs typeface="Rajdhani"/>
              </a:defRPr>
            </a:pPr>
            <a:r>
              <a:rPr sz="3000" b="1">
                <a:solidFill>
                  <a:srgbClr val="EEEEE9"/>
                </a:solidFill>
                <a:latin typeface="Rajdhani"/>
                <a:ea typeface="Rajdhani"/>
                <a:cs typeface="Rajdhani"/>
              </a:rPr>
              <a:t>A new independent shop</a:t>
            </a:r>
          </a:p>
        </p:txBody>
      </p:sp>
      <p:sp>
        <p:nvSpPr>
          <p:cNvPr id="8" name="Check whether newness alone&#10;triggers a high-">
            <a:extLst xmlns:a="http://schemas.openxmlformats.org/drawingml/2006/main">
              <a:ext uri="{FF2B5EF4-FFF2-40B4-BE49-F238E27FC236}">
                <a16:creationId xmlns:a16="http://schemas.microsoft.com/office/drawing/2014/main" id="{AA0ED940-8777-450E-ABD3-987A35C998CC}"/>
              </a:ext>
            </a:extLst>
          </p:cNvPr>
          <p:cNvSpPr>
            <a:spLocks xmlns:a="http://schemas.openxmlformats.org/drawingml/2006/main" noGrp="1"/>
          </p:cNvSpPr>
          <p:nvPr/>
        </p:nvSpPr>
        <p:spPr>
          <a:xfrm xmlns:a="http://schemas.openxmlformats.org/drawingml/2006/main">
            <a:off x="6496050" y="4105275"/>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ADAEAA"/>
                </a:solidFill>
                <a:latin typeface="Inter"/>
                <a:ea typeface="Inter"/>
                <a:cs typeface="Inter"/>
              </a:defRPr>
            </a:defPPr>
          </a:lstStyle>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Check whether newness alone</a:t>
            </a:r>
          </a:p>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triggers a high-risk warning.</a:t>
            </a:r>
          </a:p>
        </p:txBody>
      </p:sp>
      <p:sp>
        <p:nvSpPr>
          <p:cNvPr id="9" name="First-pass screening cannot prove legitimacy">
            <a:extLst xmlns:a="http://schemas.openxmlformats.org/drawingml/2006/main">
              <a:ext uri="{FF2B5EF4-FFF2-40B4-BE49-F238E27FC236}">
                <a16:creationId xmlns:a16="http://schemas.microsoft.com/office/drawing/2014/main" id="{34F19D10-E4DF-420C-86E3-01ADEACEB909}"/>
              </a:ext>
            </a:extLst>
          </p:cNvPr>
          <p:cNvSpPr>
            <a:spLocks xmlns:a="http://schemas.openxmlformats.org/drawingml/2006/main" noGrp="1"/>
          </p:cNvSpPr>
          <p:nvPr/>
        </p:nvSpPr>
        <p:spPr>
          <a:xfrm xmlns:a="http://schemas.openxmlformats.org/drawingml/2006/main">
            <a:off x="647700" y="56388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EEEEE9"/>
                </a:solidFill>
                <a:latin typeface="Inter"/>
                <a:ea typeface="Inter"/>
                <a:cs typeface="Inter"/>
              </a:defRPr>
            </a:defPPr>
          </a:lstStyle>
          <a:p xmlns:a="http://schemas.openxmlformats.org/drawingml/2006/main">
            <a:pPr>
              <a:defRPr sz="1725" b="0">
                <a:solidFill>
                  <a:srgbClr val="EEEEE9"/>
                </a:solidFill>
                <a:latin typeface="Inter"/>
                <a:ea typeface="Inter"/>
                <a:cs typeface="Inter"/>
              </a:defRPr>
            </a:pPr>
            <a:r>
              <a:rPr sz="1725" b="0">
                <a:solidFill>
                  <a:srgbClr val="EEEEE9"/>
                </a:solidFill>
                <a:latin typeface="Inter"/>
                <a:ea typeface="Inter"/>
                <a:cs typeface="Inter"/>
              </a:rPr>
              <a:t>First-pass screening cannot prove legitimacy or guarantee delivery.</a:t>
            </a:r>
          </a:p>
        </p:txBody>
      </p:sp>
    </p:spTree>
    <p:extLst>
      <p:ext uri="{BB962C8B-B14F-4D97-AF65-F5344CB8AC3E}">
        <p14:creationId xmlns:p14="http://schemas.microsoft.com/office/powerpoint/2010/main" val="15409475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2026-10-08T08:32:14.3830000Z</dcterms:created>
  <dcterms:modified xsi:type="dcterms:W3CDTF">2026-10-08T08:32:14.3830000Z</dcterms:modified>
</coreProperties>
</file>