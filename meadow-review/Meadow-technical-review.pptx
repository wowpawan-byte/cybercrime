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c27c4ac3384b1d" /><Relationship Type="http://schemas.openxmlformats.org/officeDocument/2006/relationships/extended-properties" Target="/docProps/app.xml" Id="R5c74fe80e61a4a2c" /><Relationship Type="http://schemas.openxmlformats.org/officeDocument/2006/relationships/officeDocument" Target="/ppt/presentation.xml" Id="Rfac5e164f1954eaf" /></Relationships>
</file>

<file path=ppt/presentation.xml><?xml version="1.0" encoding="utf-8"?>
<p:presentation xmlns:p="http://schemas.openxmlformats.org/presentationml/2006/main">
  <p:sldMasterIdLst>
    <p:sldMasterId xmlns:r="http://schemas.openxmlformats.org/officeDocument/2006/relationships" id="2147483648" r:id="R5ef12bfba7d1451e"/>
  </p:sldMasterIdLst>
  <p:notesMasterIdLst>
    <p:notesMasterId xmlns:r="http://schemas.openxmlformats.org/officeDocument/2006/relationships" r:id="R4f0f71788ad5451d"/>
  </p:notesMasterIdLst>
  <p:sldIdLst>
    <p:sldId xmlns:r="http://schemas.openxmlformats.org/officeDocument/2006/relationships" id="256" r:id="Rbd596c1e3dd34397"/>
    <p:sldId xmlns:r="http://schemas.openxmlformats.org/officeDocument/2006/relationships" id="257" r:id="Re00cbfaef3fe425f"/>
    <p:sldId xmlns:r="http://schemas.openxmlformats.org/officeDocument/2006/relationships" id="258" r:id="R688e080adb00486c"/>
    <p:sldId xmlns:r="http://schemas.openxmlformats.org/officeDocument/2006/relationships" id="259" r:id="Rc3e485a433e44739"/>
    <p:sldId xmlns:r="http://schemas.openxmlformats.org/officeDocument/2006/relationships" id="260" r:id="R6a3e58334d8f4f62"/>
    <p:sldId xmlns:r="http://schemas.openxmlformats.org/officeDocument/2006/relationships" id="261" r:id="R796f987eb8144d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83e01f63cc4d91" /><Relationship Type="http://schemas.openxmlformats.org/officeDocument/2006/relationships/slideMaster" Target="/ppt/slideMasters/slideMaster1.xml" Id="R5ef12bfba7d1451e" /><Relationship Type="http://schemas.openxmlformats.org/officeDocument/2006/relationships/notesMaster" Target="/ppt/notesMasters/notesMaster1.xml" Id="R4f0f71788ad5451d" /><Relationship Type="http://schemas.openxmlformats.org/officeDocument/2006/relationships/presProps" Target="/ppt/presProps.xml" Id="R554349cddd764d80" /><Relationship Type="http://schemas.openxmlformats.org/officeDocument/2006/relationships/tableStyles" Target="/ppt/tableStyles.xml" Id="Rd229174dcafe42ca" /><Relationship Type="http://schemas.openxmlformats.org/officeDocument/2006/relationships/slide" Target="/ppt/slides/slide1.xml" Id="Rbd596c1e3dd34397" /><Relationship Type="http://schemas.openxmlformats.org/officeDocument/2006/relationships/slide" Target="/ppt/slides/slide2.xml" Id="Re00cbfaef3fe425f" /><Relationship Type="http://schemas.openxmlformats.org/officeDocument/2006/relationships/slide" Target="/ppt/slides/slide3.xml" Id="R688e080adb00486c" /><Relationship Type="http://schemas.openxmlformats.org/officeDocument/2006/relationships/slide" Target="/ppt/slides/slide4.xml" Id="Rc3e485a433e44739" /><Relationship Type="http://schemas.openxmlformats.org/officeDocument/2006/relationships/slide" Target="/ppt/slides/slide5.xml" Id="R6a3e58334d8f4f62" /><Relationship Type="http://schemas.openxmlformats.org/officeDocument/2006/relationships/slide" Target="/ppt/slides/slide6.xml" Id="R796f987eb8144d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ab7eb959b244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0ce760afc146c6" /><Relationship Type="http://schemas.openxmlformats.org/officeDocument/2006/relationships/notesMaster" Target="/ppt/notesMasters/notesMaster1.xml" Id="Rb33e30235dad42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79e8a39cfe4196" /><Relationship Type="http://schemas.openxmlformats.org/officeDocument/2006/relationships/notesMaster" Target="/ppt/notesMasters/notesMaster1.xml" Id="Ra8dd92d95d5a49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7ab63c9c4a4646" /><Relationship Type="http://schemas.openxmlformats.org/officeDocument/2006/relationships/notesMaster" Target="/ppt/notesMasters/notesMaster1.xml" Id="Rcce491255a2d45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ac13a06df04b8e" /><Relationship Type="http://schemas.openxmlformats.org/officeDocument/2006/relationships/notesMaster" Target="/ppt/notesMasters/notesMaster1.xml" Id="R0d068d12c3554a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950311f57b4dac" /><Relationship Type="http://schemas.openxmlformats.org/officeDocument/2006/relationships/notesMaster" Target="/ppt/notesMasters/notesMaster1.xml" Id="R328438197cc24b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d7b3db3fcd4216" /><Relationship Type="http://schemas.openxmlformats.org/officeDocument/2006/relationships/notesMaster" Target="/ppt/notesMasters/notesMaster1.xml" Id="R1c1f432a077145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“Our issue is fake e-commerce websites. A shopper reaches a page that resembles a genuine store and may make a payment or disclose information to a criminal. We focus on the decision before entering details.” The labels identify possible harms, not outcomes of every suspicious page. Source: NCSC, Shopping and paying safely online, sections Check the shop is legitimate and Watch out for suspicious links: https://www.ncsc.gov.uk/guidance/shopping-online-securely. No incident totals or detection rates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0:20–0:40. “The cues that make a store feel familiar are not identity checks. Criminals can copy logos and layouts. HTTPS protects the connection, but a deceptive merchant can use it too. This is why a good-looking site is an incomplete basis for trust.” Sources: NCSC https://www.ncsc.gov.uk/guidance/shopping-online-securely for duplicated designs and logos; FTC, Online Shopping https://consumer.ftc.gov/articles/online-shopping for the encryption/legitimacy distinction. No claim is made that HTTPS, good design or a copied-looking logo alone indicates fraud.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0:40–1:10. “Read this invented address. The familiar-looking word comes first, but the actual domain is example-shop.test. Putting a brand name in a subdomain does not establish affiliation with that brand. The example illustrates address structure, not a verdict about a real website. Domain clues need context.” This is an author-created example using the reserved .test suffix. Under the example’s domain structure, brand is a subdomain. Project source: extension/domain.js and tests/engine.test.mjs. General deceptive-address context: NCSC https://www.ncsc.gov.uk/guidance/shopping-online-securely. Real parsing uses the Public Suffix List, including private suffixes, rather than blindly taking the final two labels. Do not navigate to this fictional address. Implementation: tldts parses the Public Suffix List with allowPrivateDomains:true, so hosted tenants can stay distinct. This is not just the final two hostname labels. Known official domains use exact domain equality. The curated catalogue is incomplete; matching an address does not endorse a seller.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1:10–1:45. “The verdict comes from explicit rules. A sensitive HTTP condition is sufficient for High Risk. A covered-brand hostname pattern combined with the same page identity and a domain younger than 30 days is another High Risk case. Age alone stays Review. Thirty days is a chosen heuristic, not a measured fraud boundary.” Source: extension/engine.js evaluate(). Full high-risk expression: any critical transport finding OR (deceptive AND strong registration group) OR (strong identity group AND strong payment group). deceptive requires the hostname resemblance and a matching covered-brand page identity. strong registration is age &lt; 30 days. The separate identity-plus-payment path uses hostname resemblance plus an unfamiliar sensitive form destination, without requiring the matching identity metadata. Ages 30–179 days generate supporting evidence. Otherwise any finding yields REVIEW, no findings plus an unknown check yields INCOMPLETE, and all performed checks clear yields PASS. Correlated hostname clues use the identity evidence group; they do not independently accumulate into a score. There is no probability or learned model. HIGH RISK is a warning, not proof of intent.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1:45–2:20. “This is a Manifest V3 browser extension. A content script extracts structural facts from the page. A service worker performs the rules locally. The optional RDAP request obtains a registration date. It sends a domain, not entered form values. If the registry is unavailable, that check stays unknown and cannot erase an existing warning.” Source: extension/inspect.js, content.js, background.js, registration.js, scripts/build.mjs. RDAP means Registration Data Access Protocol. The bundled IANA bootstrap chooses an HTTPS registry endpoint. Fetch omits credentials and referrer. Unknown is a check state, not always the overall verdict: REVIEW or HIGH RISK can still apply. The inspector uses public text locally to derive shopping/payment hints but does not return a raw text dump. Sensitive means password type, cc-* autocomplete, or configured card/CVV input-name patterns. It never reads input.value or FormData. It cannot observe every network transfer or embedded form. MutationObserver waits 650 ms after relevant changes; this is a debounce setting, not a measured end-to-end latency. Registry lookup can add delay because the worker awaits it before evaluation. No guaranteed warning before a fast user types. Bounded cache: up to 200 domains, 24 h success and 1 min failure. Results use tab-scoped session storage and clear on navigation/close. A broad HTTP/HTTPS host permission enables automatic checks; no account or backend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2:20–2:30 setup. “Now we will demonstrate an unsafe checkout and a new shop.” 2:30–4:30 demo. Switch to Chrome checkout-store.localhost:8765. Open the pinned Meadow Demo Lab extension and show REVIEW. Close it, click Proceed to checkout, then reopen when the badge changes. Show HIGH RISK and expand Connection &amp; forms. Next, open new-store.localhost:8765 and Registration age; it stays REVIEW. The local HTTP condition already gives both starting pages a reason for caution. Age values are explicitly labelled fixtures. Other rules inspect the actual DOM. All payment fields are disabled. The page's large side panel is an engine preview, not the actual extension popup: show the toolbar extension at least once. 4:30–4:45 return to this slide. “The tested behaviour follows the rules, but it does not establish real-world detection accuracy.” 15 seconds buffer. Verification record: 39 rule tests and 19 local browser checks passed on 8 October 2026; an optional live RDAP attempt returned Unknown. Tests establish implementation behaviour, not precision/recall, latency guarantees, or user outcomes. Sources: demo/lab.js, extension/demo-fixtures.js, content.js, engine.js, evaluation/BRANDING-REVIEW.md.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499329fd5d4af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4e33bb4cde488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68b306161884ba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67e70bf5b184d6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237d2907954f7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9545b3991be46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03EF66-1BC2-4E9D-931E-B733F8C6ED0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7143BC3-1D1A-4D99-8E9F-CD4BDCD7FF3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EF88BB1-8B78-48B7-96C7-B7EE5DF1D4F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A861CF-73AE-467E-898E-48FC78A3CC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A0FA7F8-F1D4-484C-AE89-6E4D5C270A1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7D971AA-96E8-4B65-A707-DDEF423535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4B43C3B-BBFC-4719-8605-30F251E0569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E20DBC-AE8A-41D2-A1B8-9A6D5AD320D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283DDD-E9AE-4F51-B5E9-B26137A974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028D5F-91AF-4787-979C-1194CA51DDE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5ce3ac09f840a0" /><Relationship Type="http://schemas.openxmlformats.org/officeDocument/2006/relationships/slideLayout" Target="/ppt/slideLayouts/slideLayout1.xml" Id="R0fa9e23bbcb648a0" /><Relationship Type="http://schemas.openxmlformats.org/officeDocument/2006/relationships/slideLayout" Target="/ppt/slideLayouts/slideLayout2.xml" Id="R8b4e559b04294a14" /><Relationship Type="http://schemas.openxmlformats.org/officeDocument/2006/relationships/slideLayout" Target="/ppt/slideLayouts/slideLayout3.xml" Id="Rd681aebda54f4339" /><Relationship Type="http://schemas.openxmlformats.org/officeDocument/2006/relationships/slideLayout" Target="/ppt/slideLayouts/slideLayout4.xml" Id="Rcf50f6536b6f4213" /><Relationship Type="http://schemas.openxmlformats.org/officeDocument/2006/relationships/slideLayout" Target="/ppt/slideLayouts/slideLayout5.xml" Id="R9118c4b0af3343d6" /><Relationship Type="http://schemas.openxmlformats.org/officeDocument/2006/relationships/slideLayout" Target="/ppt/slideLayouts/slideLayout6.xml" Id="Rc5cfc4a0bedf48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a9e23bbcb648a0"/>
    <p:sldLayoutId xmlns:r="http://schemas.openxmlformats.org/officeDocument/2006/relationships" id="2147483650" r:id="R8b4e559b04294a14"/>
    <p:sldLayoutId xmlns:r="http://schemas.openxmlformats.org/officeDocument/2006/relationships" id="2147483651" r:id="Rd681aebda54f4339"/>
    <p:sldLayoutId xmlns:r="http://schemas.openxmlformats.org/officeDocument/2006/relationships" id="2147483652" r:id="Rcf50f6536b6f4213"/>
    <p:sldLayoutId xmlns:r="http://schemas.openxmlformats.org/officeDocument/2006/relationships" id="2147483653" r:id="R9118c4b0af3343d6"/>
    <p:sldLayoutId xmlns:r="http://schemas.openxmlformats.org/officeDocument/2006/relationships" id="2147483654" r:id="Rc5cfc4a0bedf48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2b7e99e457d4851" /><Relationship Type="http://schemas.openxmlformats.org/officeDocument/2006/relationships/notesSlide" Target="/ppt/notesSlides/notesSlide1.xml" Id="R60870549682b4d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3fb3c0c26674ee3" /><Relationship Type="http://schemas.openxmlformats.org/officeDocument/2006/relationships/notesSlide" Target="/ppt/notesSlides/notesSlide2.xml" Id="Rc4ccd5b88a904a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62dee6db46a4a34" /><Relationship Type="http://schemas.openxmlformats.org/officeDocument/2006/relationships/notesSlide" Target="/ppt/notesSlides/notesSlide3.xml" Id="R5e847fe42ec747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d76600cb1dd456f" /><Relationship Type="http://schemas.openxmlformats.org/officeDocument/2006/relationships/notesSlide" Target="/ppt/notesSlides/notesSlide4.xml" Id="Rbf69c967d2d943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abcbe082b841c1" /><Relationship Type="http://schemas.openxmlformats.org/officeDocument/2006/relationships/notesSlide" Target="/ppt/notesSlides/notesSlide5.xml" Id="R52cfab35058844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d977c2e97f64454" /><Relationship Type="http://schemas.openxmlformats.org/officeDocument/2006/relationships/notesSlide" Target="/ppt/notesSlides/notesSlide6.xml" Id="R7bb61095a2c94339" /></Relationships>
</file>

<file path=ppt/slides/slide1.xml><?xml version="1.0" encoding="utf-8"?>
<p:sld xmlns:p="http://schemas.openxmlformats.org/presentationml/2006/main">
  <p:cSld>
    <p:bg>
      <p:bgPr>
        <a:solidFill xmlns:a="http://schemas.openxmlformats.org/drawingml/2006/main">
          <a:srgbClr val="191A1B"/>
        </a:solidFill>
      </p:bgPr>
    </p:bg>
    <p:spTree>
      <p:nvGrpSpPr>
        <p:cNvPr id="1" name=""/>
        <p:cNvGrpSpPr/>
        <p:nvPr/>
      </p:nvGrpSpPr>
      <p:grpSpPr>
        <a:xfrm xmlns:a="http://schemas.openxmlformats.org/drawingml/2006/main"/>
      </p:grpSpPr>
      <p:sp>
        <p:nvSpPr>
          <p:cNvPr id="8" name="FAKE E-COMMERCE WEBSITE INVESTIGATION">
            <a:extLst xmlns:a="http://schemas.openxmlformats.org/drawingml/2006/main">
              <a:ext uri="{FF2B5EF4-FFF2-40B4-BE49-F238E27FC236}">
                <a16:creationId xmlns:a16="http://schemas.microsoft.com/office/drawing/2014/main" id="{DAC4D352-15EB-4FC7-8365-904313DAEB8A}"/>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ADAEAA"/>
                </a:solidFill>
                <a:latin typeface="Inter"/>
                <a:ea typeface="Inter"/>
                <a:cs typeface="Inter"/>
              </a:defRPr>
            </a:defPPr>
          </a:lstStyle>
          <a:p xmlns:a="http://schemas.openxmlformats.org/drawingml/2006/main">
            <a:pPr>
              <a:defRPr sz="1275" b="0">
                <a:solidFill>
                  <a:srgbClr val="ADAEAA"/>
                </a:solidFill>
                <a:latin typeface="Inter"/>
                <a:ea typeface="Inter"/>
                <a:cs typeface="Inter"/>
              </a:defRPr>
            </a:pPr>
            <a:r>
              <a:rPr sz="1275" b="0">
                <a:solidFill>
                  <a:srgbClr val="ADAEAA"/>
                </a:solidFill>
                <a:latin typeface="Inter"/>
                <a:ea typeface="Inter"/>
                <a:cs typeface="Inter"/>
              </a:rPr>
              <a:t>FAKE E-COMMERCE WEBSITE INVESTIGATION</a:t>
            </a:r>
          </a:p>
        </p:txBody>
      </p:sp>
      <p:sp>
        <p:nvSpPr>
          <p:cNvPr id="2" name="meadow">
            <a:extLst xmlns:a="http://schemas.openxmlformats.org/drawingml/2006/main">
              <a:ext uri="{FF2B5EF4-FFF2-40B4-BE49-F238E27FC236}">
                <a16:creationId xmlns:a16="http://schemas.microsoft.com/office/drawing/2014/main" id="{D3166D9C-FFD6-4F21-8BF7-2C76867E13FE}"/>
              </a:ext>
            </a:extLst>
          </p:cNvPr>
          <p:cNvSpPr>
            <a:spLocks xmlns:a="http://schemas.openxmlformats.org/drawingml/2006/main" noGrp="1"/>
          </p:cNvSpPr>
          <p:nvPr/>
        </p:nvSpPr>
        <p:spPr>
          <a:xfrm xmlns:a="http://schemas.openxmlformats.org/drawingml/2006/main">
            <a:off x="609600" y="63246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ADAEAA"/>
                </a:solidFill>
                <a:latin typeface="Rajdhani"/>
                <a:ea typeface="Rajdhani"/>
                <a:cs typeface="Rajdhani"/>
              </a:defRPr>
            </a:defPPr>
          </a:lstStyle>
          <a:p xmlns:a="http://schemas.openxmlformats.org/drawingml/2006/main">
            <a:pPr>
              <a:defRPr sz="1950" b="1">
                <a:solidFill>
                  <a:srgbClr val="ADAEAA"/>
                </a:solidFill>
                <a:latin typeface="Rajdhani"/>
                <a:ea typeface="Rajdhani"/>
                <a:cs typeface="Rajdhani"/>
              </a:defRPr>
            </a:pPr>
            <a:r>
              <a:rPr sz="1950" b="1">
                <a:solidFill>
                  <a:srgbClr val="ADAEAA"/>
                </a:solidFill>
                <a:latin typeface="Rajdhani"/>
                <a:ea typeface="Rajdhani"/>
                <a:cs typeface="Rajdhani"/>
              </a:rPr>
              <a:t>meadow</a:t>
            </a:r>
          </a:p>
        </p:txBody>
      </p:sp>
      <p:sp>
        <p:nvSpPr>
          <p:cNvPr id="3" name="01 / 06">
            <a:extLst xmlns:a="http://schemas.openxmlformats.org/drawingml/2006/main">
              <a:ext uri="{FF2B5EF4-FFF2-40B4-BE49-F238E27FC236}">
                <a16:creationId xmlns:a16="http://schemas.microsoft.com/office/drawing/2014/main" id="{72897F33-0BB7-48CB-BE79-585982D01618}"/>
              </a:ext>
            </a:extLst>
          </p:cNvPr>
          <p:cNvSpPr>
            <a:spLocks xmlns:a="http://schemas.openxmlformats.org/drawingml/2006/main" noGrp="1"/>
          </p:cNvSpPr>
          <p:nvPr/>
        </p:nvSpPr>
        <p:spPr>
          <a:xfrm xmlns:a="http://schemas.openxmlformats.org/drawingml/2006/main">
            <a:off x="10763250" y="63817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ADAEAA"/>
                </a:solidFill>
                <a:latin typeface="Inter"/>
                <a:ea typeface="Inter"/>
                <a:cs typeface="Inter"/>
              </a:defRPr>
            </a:defPPr>
          </a:lstStyle>
          <a:p xmlns:a="http://schemas.openxmlformats.org/drawingml/2006/main">
            <a:pPr>
              <a:defRPr sz="1200" b="0">
                <a:solidFill>
                  <a:srgbClr val="ADAEAA"/>
                </a:solidFill>
                <a:latin typeface="Inter"/>
                <a:ea typeface="Inter"/>
                <a:cs typeface="Inter"/>
              </a:defRPr>
            </a:pPr>
            <a:r>
              <a:rPr sz="1200" b="0">
                <a:solidFill>
                  <a:srgbClr val="ADAEAA"/>
                </a:solidFill>
                <a:latin typeface="Inter"/>
                <a:ea typeface="Inter"/>
                <a:cs typeface="Inter"/>
              </a:rPr>
              <a:t>01 / 06</a:t>
            </a:r>
          </a:p>
        </p:txBody>
      </p:sp>
      <p:sp>
        <p:nvSpPr>
          <p:cNvPr id="4" name="Fake stores imitate&#10;legitimate shops">
            <a:extLst xmlns:a="http://schemas.openxmlformats.org/drawingml/2006/main">
              <a:ext uri="{FF2B5EF4-FFF2-40B4-BE49-F238E27FC236}">
                <a16:creationId xmlns:a16="http://schemas.microsoft.com/office/drawing/2014/main" id="{97EB7E61-3C93-4BD1-A021-FB108959C5D1}"/>
              </a:ext>
            </a:extLst>
          </p:cNvPr>
          <p:cNvSpPr>
            <a:spLocks xmlns:a="http://schemas.openxmlformats.org/drawingml/2006/main" noGrp="1"/>
          </p:cNvSpPr>
          <p:nvPr/>
        </p:nvSpPr>
        <p:spPr>
          <a:xfrm xmlns:a="http://schemas.openxmlformats.org/drawingml/2006/main">
            <a:off x="609600" y="1028700"/>
            <a:ext cx="10953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000" b="1">
                <a:solidFill>
                  <a:srgbClr val="EEEEE9"/>
                </a:solidFill>
                <a:latin typeface="Rajdhani"/>
                <a:ea typeface="Rajdhani"/>
                <a:cs typeface="Rajdhani"/>
              </a:defRPr>
            </a:defPPr>
          </a:lstStyle>
          <a:p xmlns:a="http://schemas.openxmlformats.org/drawingml/2006/main">
            <a:pPr>
              <a:defRPr sz="6000" b="1">
                <a:solidFill>
                  <a:srgbClr val="EEEEE9"/>
                </a:solidFill>
                <a:latin typeface="Rajdhani"/>
                <a:ea typeface="Rajdhani"/>
                <a:cs typeface="Rajdhani"/>
              </a:defRPr>
            </a:pPr>
            <a:r>
              <a:rPr sz="6000" b="1">
                <a:solidFill>
                  <a:srgbClr val="EEEEE9"/>
                </a:solidFill>
                <a:latin typeface="Rajdhani"/>
                <a:ea typeface="Rajdhani"/>
                <a:cs typeface="Rajdhani"/>
              </a:rPr>
              <a:t>Fake stores imitate</a:t>
            </a:r>
          </a:p>
          <a:p xmlns:a="http://schemas.openxmlformats.org/drawingml/2006/main">
            <a:pPr>
              <a:defRPr sz="6000" b="1">
                <a:solidFill>
                  <a:srgbClr val="EEEEE9"/>
                </a:solidFill>
                <a:latin typeface="Rajdhani"/>
                <a:ea typeface="Rajdhani"/>
                <a:cs typeface="Rajdhani"/>
              </a:defRPr>
            </a:pPr>
            <a:r>
              <a:rPr sz="6000" b="1">
                <a:solidFill>
                  <a:srgbClr val="EEEEE9"/>
                </a:solidFill>
                <a:latin typeface="Rajdhani"/>
                <a:ea typeface="Rajdhani"/>
                <a:cs typeface="Rajdhani"/>
              </a:rPr>
              <a:t>legitimate shops</a:t>
            </a:r>
          </a:p>
        </p:txBody>
      </p:sp>
      <p:sp>
        <p:nvSpPr>
          <p:cNvPr id="5" name="Copied pages can persuade shoppers to pay&#10;or">
            <a:extLst xmlns:a="http://schemas.openxmlformats.org/drawingml/2006/main">
              <a:ext uri="{FF2B5EF4-FFF2-40B4-BE49-F238E27FC236}">
                <a16:creationId xmlns:a16="http://schemas.microsoft.com/office/drawing/2014/main" id="{E65CBC94-E0E6-48DB-86AC-D07A4595EFC5}"/>
              </a:ext>
            </a:extLst>
          </p:cNvPr>
          <p:cNvSpPr>
            <a:spLocks xmlns:a="http://schemas.openxmlformats.org/drawingml/2006/main" noGrp="1"/>
          </p:cNvSpPr>
          <p:nvPr/>
        </p:nvSpPr>
        <p:spPr>
          <a:xfrm xmlns:a="http://schemas.openxmlformats.org/drawingml/2006/main">
            <a:off x="647700" y="3438525"/>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0">
                <a:solidFill>
                  <a:srgbClr val="ADAEAA"/>
                </a:solidFill>
                <a:latin typeface="Inter"/>
                <a:ea typeface="Inter"/>
                <a:cs typeface="Inter"/>
              </a:defRPr>
            </a:defPPr>
          </a:lstStyle>
          <a:p xmlns:a="http://schemas.openxmlformats.org/drawingml/2006/main">
            <a:pPr>
              <a:defRPr sz="2250" b="0">
                <a:solidFill>
                  <a:srgbClr val="ADAEAA"/>
                </a:solidFill>
                <a:latin typeface="Inter"/>
                <a:ea typeface="Inter"/>
                <a:cs typeface="Inter"/>
              </a:defRPr>
            </a:pPr>
            <a:r>
              <a:rPr sz="2250" b="0">
                <a:solidFill>
                  <a:srgbClr val="ADAEAA"/>
                </a:solidFill>
                <a:latin typeface="Inter"/>
                <a:ea typeface="Inter"/>
                <a:cs typeface="Inter"/>
              </a:rPr>
              <a:t>Copied pages can persuade shoppers to pay</a:t>
            </a:r>
          </a:p>
          <a:p xmlns:a="http://schemas.openxmlformats.org/drawingml/2006/main">
            <a:pPr>
              <a:defRPr sz="2250" b="0">
                <a:solidFill>
                  <a:srgbClr val="ADAEAA"/>
                </a:solidFill>
                <a:latin typeface="Inter"/>
                <a:ea typeface="Inter"/>
                <a:cs typeface="Inter"/>
              </a:defRPr>
            </a:pPr>
            <a:r>
              <a:rPr sz="2250" b="0">
                <a:solidFill>
                  <a:srgbClr val="ADAEAA"/>
                </a:solidFill>
                <a:latin typeface="Inter"/>
                <a:ea typeface="Inter"/>
                <a:cs typeface="Inter"/>
              </a:rPr>
              <a:t>or share personal details with a criminal.</a:t>
            </a:r>
          </a:p>
        </p:txBody>
      </p:sp>
      <p:sp>
        <p:nvSpPr>
          <p:cNvPr id="6" name="Money lost">
            <a:extLst xmlns:a="http://schemas.openxmlformats.org/drawingml/2006/main">
              <a:ext uri="{FF2B5EF4-FFF2-40B4-BE49-F238E27FC236}">
                <a16:creationId xmlns:a16="http://schemas.microsoft.com/office/drawing/2014/main" id="{373BE389-3B83-4F9B-A525-4B891F45C4FE}"/>
              </a:ext>
            </a:extLst>
          </p:cNvPr>
          <p:cNvSpPr>
            <a:spLocks xmlns:a="http://schemas.openxmlformats.org/drawingml/2006/main" noGrp="1"/>
          </p:cNvSpPr>
          <p:nvPr/>
        </p:nvSpPr>
        <p:spPr>
          <a:xfrm xmlns:a="http://schemas.openxmlformats.org/drawingml/2006/main">
            <a:off x="638175" y="5086350"/>
            <a:ext cx="461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450" b="1">
                <a:solidFill>
                  <a:srgbClr val="EEEEE9"/>
                </a:solidFill>
                <a:latin typeface="Rajdhani"/>
                <a:ea typeface="Rajdhani"/>
                <a:cs typeface="Rajdhani"/>
              </a:defRPr>
            </a:defPPr>
          </a:lstStyle>
          <a:p xmlns:a="http://schemas.openxmlformats.org/drawingml/2006/main">
            <a:pPr>
              <a:defRPr sz="3450" b="1">
                <a:solidFill>
                  <a:srgbClr val="EEEEE9"/>
                </a:solidFill>
                <a:latin typeface="Rajdhani"/>
                <a:ea typeface="Rajdhani"/>
                <a:cs typeface="Rajdhani"/>
              </a:defRPr>
            </a:pPr>
            <a:r>
              <a:rPr sz="3450" b="1">
                <a:solidFill>
                  <a:srgbClr val="EEEEE9"/>
                </a:solidFill>
                <a:latin typeface="Rajdhani"/>
                <a:ea typeface="Rajdhani"/>
                <a:cs typeface="Rajdhani"/>
              </a:rPr>
              <a:t>Money lost</a:t>
            </a:r>
          </a:p>
        </p:txBody>
      </p:sp>
      <p:sp>
        <p:nvSpPr>
          <p:cNvPr id="7" name="Personal details exposed">
            <a:extLst xmlns:a="http://schemas.openxmlformats.org/drawingml/2006/main">
              <a:ext uri="{FF2B5EF4-FFF2-40B4-BE49-F238E27FC236}">
                <a16:creationId xmlns:a16="http://schemas.microsoft.com/office/drawing/2014/main" id="{48E5AD99-9E15-4E6E-BD57-81053AFE6C83}"/>
              </a:ext>
            </a:extLst>
          </p:cNvPr>
          <p:cNvSpPr>
            <a:spLocks xmlns:a="http://schemas.openxmlformats.org/drawingml/2006/main" noGrp="1"/>
          </p:cNvSpPr>
          <p:nvPr/>
        </p:nvSpPr>
        <p:spPr>
          <a:xfrm xmlns:a="http://schemas.openxmlformats.org/drawingml/2006/main">
            <a:off x="5829300" y="5086350"/>
            <a:ext cx="581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450" b="1">
                <a:solidFill>
                  <a:srgbClr val="EEEEE9"/>
                </a:solidFill>
                <a:latin typeface="Rajdhani"/>
                <a:ea typeface="Rajdhani"/>
                <a:cs typeface="Rajdhani"/>
              </a:defRPr>
            </a:defPPr>
          </a:lstStyle>
          <a:p xmlns:a="http://schemas.openxmlformats.org/drawingml/2006/main">
            <a:pPr>
              <a:defRPr sz="3450" b="1">
                <a:solidFill>
                  <a:srgbClr val="EEEEE9"/>
                </a:solidFill>
                <a:latin typeface="Rajdhani"/>
                <a:ea typeface="Rajdhani"/>
                <a:cs typeface="Rajdhani"/>
              </a:defRPr>
            </a:pPr>
            <a:r>
              <a:rPr sz="3450" b="1">
                <a:solidFill>
                  <a:srgbClr val="EEEEE9"/>
                </a:solidFill>
                <a:latin typeface="Rajdhani"/>
                <a:ea typeface="Rajdhani"/>
                <a:cs typeface="Rajdhani"/>
              </a:rPr>
              <a:t>Personal details exposed</a:t>
            </a:r>
          </a:p>
        </p:txBody>
      </p:sp>
    </p:spTree>
    <p:extLst>
      <p:ext uri="{BB962C8B-B14F-4D97-AF65-F5344CB8AC3E}">
        <p14:creationId xmlns:p14="http://schemas.microsoft.com/office/powerpoint/2010/main" val="2048549395"/>
      </p:ext>
    </p:extLst>
  </p:cSld>
</p:sld>
</file>

<file path=ppt/slides/slide2.xml><?xml version="1.0" encoding="utf-8"?>
<p:sld xmlns:p="http://schemas.openxmlformats.org/presentationml/2006/main">
  <p:cSld>
    <p:bg>
      <p:bgPr>
        <a:solidFill xmlns:a="http://schemas.openxmlformats.org/drawingml/2006/main">
          <a:srgbClr val="191A1B"/>
        </a:solidFill>
      </p:bgPr>
    </p:bg>
    <p:spTree>
      <p:nvGrpSpPr>
        <p:cNvPr id="1" name=""/>
        <p:cNvGrpSpPr/>
        <p:nvPr/>
      </p:nvGrpSpPr>
      <p:grpSpPr>
        <a:xfrm xmlns:a="http://schemas.openxmlformats.org/drawingml/2006/main"/>
      </p:grpSpPr>
      <p:sp>
        <p:nvSpPr>
          <p:cNvPr id="10" name="WHY APPEARANCE IS A WEAK TEST">
            <a:extLst xmlns:a="http://schemas.openxmlformats.org/drawingml/2006/main">
              <a:ext uri="{FF2B5EF4-FFF2-40B4-BE49-F238E27FC236}">
                <a16:creationId xmlns:a16="http://schemas.microsoft.com/office/drawing/2014/main" id="{4D4EEFCD-3F03-433C-A008-C7E23BD45E0D}"/>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ADAEAA"/>
                </a:solidFill>
                <a:latin typeface="Inter"/>
                <a:ea typeface="Inter"/>
                <a:cs typeface="Inter"/>
              </a:defRPr>
            </a:defPPr>
          </a:lstStyle>
          <a:p xmlns:a="http://schemas.openxmlformats.org/drawingml/2006/main">
            <a:pPr>
              <a:defRPr sz="1275" b="0">
                <a:solidFill>
                  <a:srgbClr val="ADAEAA"/>
                </a:solidFill>
                <a:latin typeface="Inter"/>
                <a:ea typeface="Inter"/>
                <a:cs typeface="Inter"/>
              </a:defRPr>
            </a:pPr>
            <a:r>
              <a:rPr sz="1275" b="0">
                <a:solidFill>
                  <a:srgbClr val="ADAEAA"/>
                </a:solidFill>
                <a:latin typeface="Inter"/>
                <a:ea typeface="Inter"/>
                <a:cs typeface="Inter"/>
              </a:rPr>
              <a:t>WHY APPEARANCE IS A WEAK TEST</a:t>
            </a:r>
          </a:p>
        </p:txBody>
      </p:sp>
      <p:sp>
        <p:nvSpPr>
          <p:cNvPr id="2" name="meadow">
            <a:extLst xmlns:a="http://schemas.openxmlformats.org/drawingml/2006/main">
              <a:ext uri="{FF2B5EF4-FFF2-40B4-BE49-F238E27FC236}">
                <a16:creationId xmlns:a16="http://schemas.microsoft.com/office/drawing/2014/main" id="{8344FC67-7292-4623-A539-8B9AE6912D09}"/>
              </a:ext>
            </a:extLst>
          </p:cNvPr>
          <p:cNvSpPr>
            <a:spLocks xmlns:a="http://schemas.openxmlformats.org/drawingml/2006/main" noGrp="1"/>
          </p:cNvSpPr>
          <p:nvPr/>
        </p:nvSpPr>
        <p:spPr>
          <a:xfrm xmlns:a="http://schemas.openxmlformats.org/drawingml/2006/main">
            <a:off x="609600" y="63246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ADAEAA"/>
                </a:solidFill>
                <a:latin typeface="Rajdhani"/>
                <a:ea typeface="Rajdhani"/>
                <a:cs typeface="Rajdhani"/>
              </a:defRPr>
            </a:defPPr>
          </a:lstStyle>
          <a:p xmlns:a="http://schemas.openxmlformats.org/drawingml/2006/main">
            <a:pPr>
              <a:defRPr sz="1950" b="1">
                <a:solidFill>
                  <a:srgbClr val="ADAEAA"/>
                </a:solidFill>
                <a:latin typeface="Rajdhani"/>
                <a:ea typeface="Rajdhani"/>
                <a:cs typeface="Rajdhani"/>
              </a:defRPr>
            </a:pPr>
            <a:r>
              <a:rPr sz="1950" b="1">
                <a:solidFill>
                  <a:srgbClr val="ADAEAA"/>
                </a:solidFill>
                <a:latin typeface="Rajdhani"/>
                <a:ea typeface="Rajdhani"/>
                <a:cs typeface="Rajdhani"/>
              </a:rPr>
              <a:t>meadow</a:t>
            </a:r>
          </a:p>
        </p:txBody>
      </p:sp>
      <p:sp>
        <p:nvSpPr>
          <p:cNvPr id="3" name="02 / 06">
            <a:extLst xmlns:a="http://schemas.openxmlformats.org/drawingml/2006/main">
              <a:ext uri="{FF2B5EF4-FFF2-40B4-BE49-F238E27FC236}">
                <a16:creationId xmlns:a16="http://schemas.microsoft.com/office/drawing/2014/main" id="{80A95488-B60C-4940-9A02-A70371A6EF1C}"/>
              </a:ext>
            </a:extLst>
          </p:cNvPr>
          <p:cNvSpPr>
            <a:spLocks xmlns:a="http://schemas.openxmlformats.org/drawingml/2006/main" noGrp="1"/>
          </p:cNvSpPr>
          <p:nvPr/>
        </p:nvSpPr>
        <p:spPr>
          <a:xfrm xmlns:a="http://schemas.openxmlformats.org/drawingml/2006/main">
            <a:off x="10763250" y="63817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ADAEAA"/>
                </a:solidFill>
                <a:latin typeface="Inter"/>
                <a:ea typeface="Inter"/>
                <a:cs typeface="Inter"/>
              </a:defRPr>
            </a:defPPr>
          </a:lstStyle>
          <a:p xmlns:a="http://schemas.openxmlformats.org/drawingml/2006/main">
            <a:pPr>
              <a:defRPr sz="1200" b="0">
                <a:solidFill>
                  <a:srgbClr val="ADAEAA"/>
                </a:solidFill>
                <a:latin typeface="Inter"/>
                <a:ea typeface="Inter"/>
                <a:cs typeface="Inter"/>
              </a:defRPr>
            </a:pPr>
            <a:r>
              <a:rPr sz="1200" b="0">
                <a:solidFill>
                  <a:srgbClr val="ADAEAA"/>
                </a:solidFill>
                <a:latin typeface="Inter"/>
                <a:ea typeface="Inter"/>
                <a:cs typeface="Inter"/>
              </a:rPr>
              <a:t>02 / 06</a:t>
            </a:r>
          </a:p>
        </p:txBody>
      </p:sp>
      <p:sp>
        <p:nvSpPr>
          <p:cNvPr id="4" name="Familiar cues do not&#10;verify the seller">
            <a:extLst xmlns:a="http://schemas.openxmlformats.org/drawingml/2006/main">
              <a:ext uri="{FF2B5EF4-FFF2-40B4-BE49-F238E27FC236}">
                <a16:creationId xmlns:a16="http://schemas.microsoft.com/office/drawing/2014/main" id="{E411BEA1-1EC2-4AD2-82CD-B2EDC9A17E08}"/>
              </a:ext>
            </a:extLst>
          </p:cNvPr>
          <p:cNvSpPr>
            <a:spLocks xmlns:a="http://schemas.openxmlformats.org/drawingml/2006/main" noGrp="1"/>
          </p:cNvSpPr>
          <p:nvPr/>
        </p:nvSpPr>
        <p:spPr>
          <a:xfrm xmlns:a="http://schemas.openxmlformats.org/drawingml/2006/main">
            <a:off x="609600" y="1028700"/>
            <a:ext cx="109537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100" b="1">
                <a:solidFill>
                  <a:srgbClr val="EEEEE9"/>
                </a:solidFill>
                <a:latin typeface="Rajdhani"/>
                <a:ea typeface="Rajdhani"/>
                <a:cs typeface="Rajdhani"/>
              </a:defRPr>
            </a:defPPr>
          </a:lstStyle>
          <a:p xmlns:a="http://schemas.openxmlformats.org/drawingml/2006/main">
            <a:pPr>
              <a:defRPr sz="5100" b="1">
                <a:solidFill>
                  <a:srgbClr val="EEEEE9"/>
                </a:solidFill>
                <a:latin typeface="Rajdhani"/>
                <a:ea typeface="Rajdhani"/>
                <a:cs typeface="Rajdhani"/>
              </a:defRPr>
            </a:pPr>
            <a:r>
              <a:rPr sz="5100" b="1">
                <a:solidFill>
                  <a:srgbClr val="EEEEE9"/>
                </a:solidFill>
                <a:latin typeface="Rajdhani"/>
                <a:ea typeface="Rajdhani"/>
                <a:cs typeface="Rajdhani"/>
              </a:rPr>
              <a:t>Familiar cues do not</a:t>
            </a:r>
          </a:p>
          <a:p xmlns:a="http://schemas.openxmlformats.org/drawingml/2006/main">
            <a:pPr>
              <a:defRPr sz="5100" b="1">
                <a:solidFill>
                  <a:srgbClr val="EEEEE9"/>
                </a:solidFill>
                <a:latin typeface="Rajdhani"/>
                <a:ea typeface="Rajdhani"/>
                <a:cs typeface="Rajdhani"/>
              </a:defRPr>
            </a:pPr>
            <a:r>
              <a:rPr sz="5100" b="1">
                <a:solidFill>
                  <a:srgbClr val="EEEEE9"/>
                </a:solidFill>
                <a:latin typeface="Rajdhani"/>
                <a:ea typeface="Rajdhani"/>
                <a:cs typeface="Rajdhani"/>
              </a:rPr>
              <a:t>verify the seller</a:t>
            </a:r>
          </a:p>
        </p:txBody>
      </p:sp>
      <p:sp>
        <p:nvSpPr>
          <p:cNvPr id="5" name="Logo + polished design">
            <a:extLst xmlns:a="http://schemas.openxmlformats.org/drawingml/2006/main">
              <a:ext uri="{FF2B5EF4-FFF2-40B4-BE49-F238E27FC236}">
                <a16:creationId xmlns:a16="http://schemas.microsoft.com/office/drawing/2014/main" id="{6386B28B-8E4D-4D68-A9F2-3C4334C6B463}"/>
              </a:ext>
            </a:extLst>
          </p:cNvPr>
          <p:cNvSpPr>
            <a:spLocks xmlns:a="http://schemas.openxmlformats.org/drawingml/2006/main" noGrp="1"/>
          </p:cNvSpPr>
          <p:nvPr/>
        </p:nvSpPr>
        <p:spPr>
          <a:xfrm xmlns:a="http://schemas.openxmlformats.org/drawingml/2006/main">
            <a:off x="638175" y="3267075"/>
            <a:ext cx="5381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00" b="1">
                <a:solidFill>
                  <a:srgbClr val="EEEEE9"/>
                </a:solidFill>
                <a:latin typeface="Rajdhani"/>
                <a:ea typeface="Rajdhani"/>
                <a:cs typeface="Rajdhani"/>
              </a:defRPr>
            </a:defPPr>
          </a:lstStyle>
          <a:p xmlns:a="http://schemas.openxmlformats.org/drawingml/2006/main">
            <a:pPr>
              <a:defRPr sz="3300" b="1">
                <a:solidFill>
                  <a:srgbClr val="EEEEE9"/>
                </a:solidFill>
                <a:latin typeface="Rajdhani"/>
                <a:ea typeface="Rajdhani"/>
                <a:cs typeface="Rajdhani"/>
              </a:defRPr>
            </a:pPr>
            <a:r>
              <a:rPr sz="3300" b="1">
                <a:solidFill>
                  <a:srgbClr val="EEEEE9"/>
                </a:solidFill>
                <a:latin typeface="Rajdhani"/>
                <a:ea typeface="Rajdhani"/>
                <a:cs typeface="Rajdhani"/>
              </a:rPr>
              <a:t>Logo + polished design</a:t>
            </a:r>
          </a:p>
        </p:txBody>
      </p:sp>
      <p:sp>
        <p:nvSpPr>
          <p:cNvPr id="6" name="A fake store can copy both.">
            <a:extLst xmlns:a="http://schemas.openxmlformats.org/drawingml/2006/main">
              <a:ext uri="{FF2B5EF4-FFF2-40B4-BE49-F238E27FC236}">
                <a16:creationId xmlns:a16="http://schemas.microsoft.com/office/drawing/2014/main" id="{4123B876-E051-40E1-92D6-34D5F29B2D46}"/>
              </a:ext>
            </a:extLst>
          </p:cNvPr>
          <p:cNvSpPr>
            <a:spLocks xmlns:a="http://schemas.openxmlformats.org/drawingml/2006/main" noGrp="1"/>
          </p:cNvSpPr>
          <p:nvPr/>
        </p:nvSpPr>
        <p:spPr>
          <a:xfrm xmlns:a="http://schemas.openxmlformats.org/drawingml/2006/main">
            <a:off x="6534150" y="3352800"/>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ADAEAA"/>
                </a:solidFill>
                <a:latin typeface="Inter"/>
                <a:ea typeface="Inter"/>
                <a:cs typeface="Inter"/>
              </a:defRPr>
            </a:defPPr>
          </a:lstStyle>
          <a:p xmlns:a="http://schemas.openxmlformats.org/drawingml/2006/main">
            <a:pPr>
              <a:defRPr sz="2025" b="0">
                <a:solidFill>
                  <a:srgbClr val="ADAEAA"/>
                </a:solidFill>
                <a:latin typeface="Inter"/>
                <a:ea typeface="Inter"/>
                <a:cs typeface="Inter"/>
              </a:defRPr>
            </a:pPr>
            <a:r>
              <a:rPr sz="2025" b="0">
                <a:solidFill>
                  <a:srgbClr val="ADAEAA"/>
                </a:solidFill>
                <a:latin typeface="Inter"/>
                <a:ea typeface="Inter"/>
                <a:cs typeface="Inter"/>
              </a:rPr>
              <a:t>A fake store can copy both.</a:t>
            </a:r>
          </a:p>
        </p:txBody>
      </p:sp>
      <p:sp>
        <p:nvSpPr>
          <p:cNvPr id="7" name="HTTPS">
            <a:extLst xmlns:a="http://schemas.openxmlformats.org/drawingml/2006/main">
              <a:ext uri="{FF2B5EF4-FFF2-40B4-BE49-F238E27FC236}">
                <a16:creationId xmlns:a16="http://schemas.microsoft.com/office/drawing/2014/main" id="{6A15464C-E754-4504-838D-8D0496EAE681}"/>
              </a:ext>
            </a:extLst>
          </p:cNvPr>
          <p:cNvSpPr>
            <a:spLocks xmlns:a="http://schemas.openxmlformats.org/drawingml/2006/main" noGrp="1"/>
          </p:cNvSpPr>
          <p:nvPr/>
        </p:nvSpPr>
        <p:spPr>
          <a:xfrm xmlns:a="http://schemas.openxmlformats.org/drawingml/2006/main">
            <a:off x="638175" y="4448175"/>
            <a:ext cx="5381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00" b="1">
                <a:solidFill>
                  <a:srgbClr val="EEEEE9"/>
                </a:solidFill>
                <a:latin typeface="Rajdhani"/>
                <a:ea typeface="Rajdhani"/>
                <a:cs typeface="Rajdhani"/>
              </a:defRPr>
            </a:defPPr>
          </a:lstStyle>
          <a:p xmlns:a="http://schemas.openxmlformats.org/drawingml/2006/main">
            <a:pPr>
              <a:defRPr sz="3600" b="1">
                <a:solidFill>
                  <a:srgbClr val="EEEEE9"/>
                </a:solidFill>
                <a:latin typeface="Rajdhani"/>
                <a:ea typeface="Rajdhani"/>
                <a:cs typeface="Rajdhani"/>
              </a:defRPr>
            </a:pPr>
            <a:r>
              <a:rPr sz="3600" b="1">
                <a:solidFill>
                  <a:srgbClr val="EEEEE9"/>
                </a:solidFill>
                <a:latin typeface="Rajdhani"/>
                <a:ea typeface="Rajdhani"/>
                <a:cs typeface="Rajdhani"/>
              </a:rPr>
              <a:t>HTTPS</a:t>
            </a:r>
          </a:p>
        </p:txBody>
      </p:sp>
      <p:sp>
        <p:nvSpPr>
          <p:cNvPr id="8" name="Encrypts the connection.&#10;Does not prove the ">
            <a:extLst xmlns:a="http://schemas.openxmlformats.org/drawingml/2006/main">
              <a:ext uri="{FF2B5EF4-FFF2-40B4-BE49-F238E27FC236}">
                <a16:creationId xmlns:a16="http://schemas.microsoft.com/office/drawing/2014/main" id="{7BB78EE7-615C-434B-8A5F-DD764A433B4F}"/>
              </a:ext>
            </a:extLst>
          </p:cNvPr>
          <p:cNvSpPr>
            <a:spLocks xmlns:a="http://schemas.openxmlformats.org/drawingml/2006/main" noGrp="1"/>
          </p:cNvSpPr>
          <p:nvPr/>
        </p:nvSpPr>
        <p:spPr>
          <a:xfrm xmlns:a="http://schemas.openxmlformats.org/drawingml/2006/main">
            <a:off x="6534150" y="4400550"/>
            <a:ext cx="50958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ADAEAA"/>
                </a:solidFill>
                <a:latin typeface="Inter"/>
                <a:ea typeface="Inter"/>
                <a:cs typeface="Inter"/>
              </a:defRPr>
            </a:defPPr>
          </a:lstStyle>
          <a:p xmlns:a="http://schemas.openxmlformats.org/drawingml/2006/main">
            <a:pPr>
              <a:defRPr sz="1875" b="0">
                <a:solidFill>
                  <a:srgbClr val="ADAEAA"/>
                </a:solidFill>
                <a:latin typeface="Inter"/>
                <a:ea typeface="Inter"/>
                <a:cs typeface="Inter"/>
              </a:defRPr>
            </a:pPr>
            <a:r>
              <a:rPr sz="1875" b="0">
                <a:solidFill>
                  <a:srgbClr val="ADAEAA"/>
                </a:solidFill>
                <a:latin typeface="Inter"/>
                <a:ea typeface="Inter"/>
                <a:cs typeface="Inter"/>
              </a:rPr>
              <a:t>Encrypts the connection.</a:t>
            </a:r>
          </a:p>
          <a:p xmlns:a="http://schemas.openxmlformats.org/drawingml/2006/main">
            <a:pPr>
              <a:defRPr sz="1875" b="0">
                <a:solidFill>
                  <a:srgbClr val="ADAEAA"/>
                </a:solidFill>
                <a:latin typeface="Inter"/>
                <a:ea typeface="Inter"/>
                <a:cs typeface="Inter"/>
              </a:defRPr>
            </a:pPr>
            <a:r>
              <a:rPr sz="1875" b="0">
                <a:solidFill>
                  <a:srgbClr val="ADAEAA"/>
                </a:solidFill>
                <a:latin typeface="Inter"/>
                <a:ea typeface="Inter"/>
                <a:cs typeface="Inter"/>
              </a:rPr>
              <a:t>Does not prove the shop is legitimate.</a:t>
            </a:r>
          </a:p>
        </p:txBody>
      </p:sp>
      <p:sp>
        <p:nvSpPr>
          <p:cNvPr id="9" name="A reassuring page can still belong to an unv">
            <a:extLst xmlns:a="http://schemas.openxmlformats.org/drawingml/2006/main">
              <a:ext uri="{FF2B5EF4-FFF2-40B4-BE49-F238E27FC236}">
                <a16:creationId xmlns:a16="http://schemas.microsoft.com/office/drawing/2014/main" id="{C7BADD98-BD2A-4B42-BCEF-3EFA9CAA5FF1}"/>
              </a:ext>
            </a:extLst>
          </p:cNvPr>
          <p:cNvSpPr>
            <a:spLocks xmlns:a="http://schemas.openxmlformats.org/drawingml/2006/main" noGrp="1"/>
          </p:cNvSpPr>
          <p:nvPr/>
        </p:nvSpPr>
        <p:spPr>
          <a:xfrm xmlns:a="http://schemas.openxmlformats.org/drawingml/2006/main">
            <a:off x="647700" y="566737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EEEEE9"/>
                </a:solidFill>
                <a:latin typeface="Inter"/>
                <a:ea typeface="Inter"/>
                <a:cs typeface="Inter"/>
              </a:defRPr>
            </a:defPPr>
          </a:lstStyle>
          <a:p xmlns:a="http://schemas.openxmlformats.org/drawingml/2006/main">
            <a:pPr>
              <a:defRPr sz="1800" b="0">
                <a:solidFill>
                  <a:srgbClr val="EEEEE9"/>
                </a:solidFill>
                <a:latin typeface="Inter"/>
                <a:ea typeface="Inter"/>
                <a:cs typeface="Inter"/>
              </a:defRPr>
            </a:pPr>
            <a:r>
              <a:rPr sz="1800" b="0">
                <a:solidFill>
                  <a:srgbClr val="EEEEE9"/>
                </a:solidFill>
                <a:latin typeface="Inter"/>
                <a:ea typeface="Inter"/>
                <a:cs typeface="Inter"/>
              </a:rPr>
              <a:t>A reassuring page can still belong to an unverified seller.</a:t>
            </a:r>
          </a:p>
        </p:txBody>
      </p:sp>
    </p:spTree>
    <p:extLst>
      <p:ext uri="{BB962C8B-B14F-4D97-AF65-F5344CB8AC3E}">
        <p14:creationId xmlns:p14="http://schemas.microsoft.com/office/powerpoint/2010/main" val="987751597"/>
      </p:ext>
    </p:extLst>
  </p:cSld>
</p:sld>
</file>

<file path=ppt/slides/slide3.xml><?xml version="1.0" encoding="utf-8"?>
<p:sld xmlns:p="http://schemas.openxmlformats.org/presentationml/2006/main">
  <p:cSld>
    <p:bg>
      <p:bgPr>
        <a:solidFill xmlns:a="http://schemas.openxmlformats.org/drawingml/2006/main">
          <a:srgbClr val="191A1B"/>
        </a:solidFill>
      </p:bgPr>
    </p:bg>
    <p:spTree>
      <p:nvGrpSpPr>
        <p:cNvPr id="1" name=""/>
        <p:cNvGrpSpPr/>
        <p:nvPr/>
      </p:nvGrpSpPr>
      <p:grpSpPr>
        <a:xfrm xmlns:a="http://schemas.openxmlformats.org/drawingml/2006/main"/>
      </p:grpSpPr>
      <p:sp>
        <p:nvSpPr>
          <p:cNvPr id="11" name="ONE ADDRESS, TWO IMPRESSIONS">
            <a:extLst xmlns:a="http://schemas.openxmlformats.org/drawingml/2006/main">
              <a:ext uri="{FF2B5EF4-FFF2-40B4-BE49-F238E27FC236}">
                <a16:creationId xmlns:a16="http://schemas.microsoft.com/office/drawing/2014/main" id="{4F4A5223-AE44-4222-AA98-1916C022CFBC}"/>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ADAEAA"/>
                </a:solidFill>
                <a:latin typeface="Inter"/>
                <a:ea typeface="Inter"/>
                <a:cs typeface="Inter"/>
              </a:defRPr>
            </a:defPPr>
          </a:lstStyle>
          <a:p xmlns:a="http://schemas.openxmlformats.org/drawingml/2006/main">
            <a:pPr>
              <a:defRPr sz="1275" b="0">
                <a:solidFill>
                  <a:srgbClr val="ADAEAA"/>
                </a:solidFill>
                <a:latin typeface="Inter"/>
                <a:ea typeface="Inter"/>
                <a:cs typeface="Inter"/>
              </a:defRPr>
            </a:pPr>
            <a:r>
              <a:rPr sz="1275" b="0">
                <a:solidFill>
                  <a:srgbClr val="ADAEAA"/>
                </a:solidFill>
                <a:latin typeface="Inter"/>
                <a:ea typeface="Inter"/>
                <a:cs typeface="Inter"/>
              </a:rPr>
              <a:t>ONE ADDRESS, TWO IMPRESSIONS</a:t>
            </a:r>
          </a:p>
        </p:txBody>
      </p:sp>
      <p:sp>
        <p:nvSpPr>
          <p:cNvPr id="2" name="meadow">
            <a:extLst xmlns:a="http://schemas.openxmlformats.org/drawingml/2006/main">
              <a:ext uri="{FF2B5EF4-FFF2-40B4-BE49-F238E27FC236}">
                <a16:creationId xmlns:a16="http://schemas.microsoft.com/office/drawing/2014/main" id="{41A3E40D-29A4-45AE-8671-47F59050477F}"/>
              </a:ext>
            </a:extLst>
          </p:cNvPr>
          <p:cNvSpPr>
            <a:spLocks xmlns:a="http://schemas.openxmlformats.org/drawingml/2006/main" noGrp="1"/>
          </p:cNvSpPr>
          <p:nvPr/>
        </p:nvSpPr>
        <p:spPr>
          <a:xfrm xmlns:a="http://schemas.openxmlformats.org/drawingml/2006/main">
            <a:off x="609600" y="63246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ADAEAA"/>
                </a:solidFill>
                <a:latin typeface="Rajdhani"/>
                <a:ea typeface="Rajdhani"/>
                <a:cs typeface="Rajdhani"/>
              </a:defRPr>
            </a:defPPr>
          </a:lstStyle>
          <a:p xmlns:a="http://schemas.openxmlformats.org/drawingml/2006/main">
            <a:pPr>
              <a:defRPr sz="1950" b="1">
                <a:solidFill>
                  <a:srgbClr val="ADAEAA"/>
                </a:solidFill>
                <a:latin typeface="Rajdhani"/>
                <a:ea typeface="Rajdhani"/>
                <a:cs typeface="Rajdhani"/>
              </a:defRPr>
            </a:pPr>
            <a:r>
              <a:rPr sz="1950" b="1">
                <a:solidFill>
                  <a:srgbClr val="ADAEAA"/>
                </a:solidFill>
                <a:latin typeface="Rajdhani"/>
                <a:ea typeface="Rajdhani"/>
                <a:cs typeface="Rajdhani"/>
              </a:rPr>
              <a:t>meadow</a:t>
            </a:r>
          </a:p>
        </p:txBody>
      </p:sp>
      <p:sp>
        <p:nvSpPr>
          <p:cNvPr id="3" name="03 / 06">
            <a:extLst xmlns:a="http://schemas.openxmlformats.org/drawingml/2006/main">
              <a:ext uri="{FF2B5EF4-FFF2-40B4-BE49-F238E27FC236}">
                <a16:creationId xmlns:a16="http://schemas.microsoft.com/office/drawing/2014/main" id="{45959A78-9650-460D-B403-5CBB20FFB263}"/>
              </a:ext>
            </a:extLst>
          </p:cNvPr>
          <p:cNvSpPr>
            <a:spLocks xmlns:a="http://schemas.openxmlformats.org/drawingml/2006/main" noGrp="1"/>
          </p:cNvSpPr>
          <p:nvPr/>
        </p:nvSpPr>
        <p:spPr>
          <a:xfrm xmlns:a="http://schemas.openxmlformats.org/drawingml/2006/main">
            <a:off x="10763250" y="63817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ADAEAA"/>
                </a:solidFill>
                <a:latin typeface="Inter"/>
                <a:ea typeface="Inter"/>
                <a:cs typeface="Inter"/>
              </a:defRPr>
            </a:defPPr>
          </a:lstStyle>
          <a:p xmlns:a="http://schemas.openxmlformats.org/drawingml/2006/main">
            <a:pPr>
              <a:defRPr sz="1200" b="0">
                <a:solidFill>
                  <a:srgbClr val="ADAEAA"/>
                </a:solidFill>
                <a:latin typeface="Inter"/>
                <a:ea typeface="Inter"/>
                <a:cs typeface="Inter"/>
              </a:defRPr>
            </a:pPr>
            <a:r>
              <a:rPr sz="1200" b="0">
                <a:solidFill>
                  <a:srgbClr val="ADAEAA"/>
                </a:solidFill>
                <a:latin typeface="Inter"/>
                <a:ea typeface="Inter"/>
                <a:cs typeface="Inter"/>
              </a:rPr>
              <a:t>03 / 06</a:t>
            </a:r>
          </a:p>
        </p:txBody>
      </p:sp>
      <p:sp>
        <p:nvSpPr>
          <p:cNvPr id="4" name="A brand name can appear&#10;inside someone else’">
            <a:extLst xmlns:a="http://schemas.openxmlformats.org/drawingml/2006/main">
              <a:ext uri="{FF2B5EF4-FFF2-40B4-BE49-F238E27FC236}">
                <a16:creationId xmlns:a16="http://schemas.microsoft.com/office/drawing/2014/main" id="{1FB06F29-2BFD-4851-B8EE-901CDF5ABA14}"/>
              </a:ext>
            </a:extLst>
          </p:cNvPr>
          <p:cNvSpPr>
            <a:spLocks xmlns:a="http://schemas.openxmlformats.org/drawingml/2006/main" noGrp="1"/>
          </p:cNvSpPr>
          <p:nvPr/>
        </p:nvSpPr>
        <p:spPr>
          <a:xfrm xmlns:a="http://schemas.openxmlformats.org/drawingml/2006/main">
            <a:off x="609600" y="1028700"/>
            <a:ext cx="10953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650" b="1">
                <a:solidFill>
                  <a:srgbClr val="EEEEE9"/>
                </a:solidFill>
                <a:latin typeface="Rajdhani"/>
                <a:ea typeface="Rajdhani"/>
                <a:cs typeface="Rajdhani"/>
              </a:defRPr>
            </a:defPPr>
          </a:lstStyle>
          <a:p xmlns:a="http://schemas.openxmlformats.org/drawingml/2006/main">
            <a:pPr>
              <a:defRPr sz="4650" b="1">
                <a:solidFill>
                  <a:srgbClr val="EEEEE9"/>
                </a:solidFill>
                <a:latin typeface="Rajdhani"/>
                <a:ea typeface="Rajdhani"/>
                <a:cs typeface="Rajdhani"/>
              </a:defRPr>
            </a:pPr>
            <a:r>
              <a:rPr sz="4650" b="1">
                <a:solidFill>
                  <a:srgbClr val="EEEEE9"/>
                </a:solidFill>
                <a:latin typeface="Rajdhani"/>
                <a:ea typeface="Rajdhani"/>
                <a:cs typeface="Rajdhani"/>
              </a:rPr>
              <a:t>A brand name can appear</a:t>
            </a:r>
          </a:p>
          <a:p xmlns:a="http://schemas.openxmlformats.org/drawingml/2006/main">
            <a:pPr>
              <a:defRPr sz="4650" b="1">
                <a:solidFill>
                  <a:srgbClr val="EEEEE9"/>
                </a:solidFill>
                <a:latin typeface="Rajdhani"/>
                <a:ea typeface="Rajdhani"/>
                <a:cs typeface="Rajdhani"/>
              </a:defRPr>
            </a:pPr>
            <a:r>
              <a:rPr sz="4650" b="1">
                <a:solidFill>
                  <a:srgbClr val="EEEEE9"/>
                </a:solidFill>
                <a:latin typeface="Rajdhani"/>
                <a:ea typeface="Rajdhani"/>
                <a:cs typeface="Rajdhani"/>
              </a:rPr>
              <a:t>inside someone else’s address</a:t>
            </a:r>
          </a:p>
        </p:txBody>
      </p:sp>
      <p:sp>
        <p:nvSpPr>
          <p:cNvPr id="5" name="brand.example-shop.test">
            <a:extLst xmlns:a="http://schemas.openxmlformats.org/drawingml/2006/main">
              <a:ext uri="{FF2B5EF4-FFF2-40B4-BE49-F238E27FC236}">
                <a16:creationId xmlns:a16="http://schemas.microsoft.com/office/drawing/2014/main" id="{3D816FFC-995B-4ACF-818A-D6BA00DA144A}"/>
              </a:ext>
            </a:extLst>
          </p:cNvPr>
          <p:cNvSpPr>
            <a:spLocks xmlns:a="http://schemas.openxmlformats.org/drawingml/2006/main" noGrp="1"/>
          </p:cNvSpPr>
          <p:nvPr/>
        </p:nvSpPr>
        <p:spPr>
          <a:xfrm xmlns:a="http://schemas.openxmlformats.org/drawingml/2006/main">
            <a:off x="638175" y="30289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250" b="1">
                <a:solidFill>
                  <a:srgbClr val="EEEEE9"/>
                </a:solidFill>
                <a:latin typeface="Rajdhani"/>
                <a:ea typeface="Rajdhani"/>
                <a:cs typeface="Rajdhani"/>
              </a:defRPr>
            </a:defPPr>
          </a:lstStyle>
          <a:p xmlns:a="http://schemas.openxmlformats.org/drawingml/2006/main">
            <a:pPr>
              <a:defRPr sz="5250" b="1">
                <a:solidFill>
                  <a:srgbClr val="EEEEE9"/>
                </a:solidFill>
                <a:latin typeface="Rajdhani"/>
                <a:ea typeface="Rajdhani"/>
                <a:cs typeface="Rajdhani"/>
              </a:defRPr>
            </a:pPr>
            <a:r>
              <a:rPr sz="5250" b="1">
                <a:solidFill>
                  <a:srgbClr val="8C8E8B"/>
                </a:solidFill>
                <a:latin typeface="Rajdhani"/>
                <a:ea typeface="Rajdhani"/>
                <a:cs typeface="Rajdhani"/>
              </a:rPr>
              <a:t>brand.</a:t>
            </a:r>
            <a:r>
              <a:rPr sz="5250" b="1">
                <a:solidFill>
                  <a:srgbClr val="EEEEE9"/>
                </a:solidFill>
                <a:latin typeface="Rajdhani"/>
                <a:ea typeface="Rajdhani"/>
                <a:cs typeface="Rajdhani"/>
              </a:rPr>
              <a:t>example-shop.test</a:t>
            </a:r>
          </a:p>
        </p:txBody>
      </p:sp>
      <p:sp>
        <p:nvSpPr>
          <p:cNvPr id="6" name="A familiar-looking prefix">
            <a:extLst xmlns:a="http://schemas.openxmlformats.org/drawingml/2006/main">
              <a:ext uri="{FF2B5EF4-FFF2-40B4-BE49-F238E27FC236}">
                <a16:creationId xmlns:a16="http://schemas.microsoft.com/office/drawing/2014/main" id="{241907E1-6B8D-4039-ACBF-A368153EC679}"/>
              </a:ext>
            </a:extLst>
          </p:cNvPr>
          <p:cNvSpPr>
            <a:spLocks xmlns:a="http://schemas.openxmlformats.org/drawingml/2006/main" noGrp="1"/>
          </p:cNvSpPr>
          <p:nvPr/>
        </p:nvSpPr>
        <p:spPr>
          <a:xfrm xmlns:a="http://schemas.openxmlformats.org/drawingml/2006/main">
            <a:off x="647700" y="42386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ADAEAA"/>
                </a:solidFill>
                <a:latin typeface="Rajdhani"/>
                <a:ea typeface="Rajdhani"/>
                <a:cs typeface="Rajdhani"/>
              </a:defRPr>
            </a:defPPr>
          </a:lstStyle>
          <a:p xmlns:a="http://schemas.openxmlformats.org/drawingml/2006/main">
            <a:pPr>
              <a:defRPr sz="2025" b="1">
                <a:solidFill>
                  <a:srgbClr val="ADAEAA"/>
                </a:solidFill>
                <a:latin typeface="Rajdhani"/>
                <a:ea typeface="Rajdhani"/>
                <a:cs typeface="Rajdhani"/>
              </a:defRPr>
            </a:pPr>
            <a:r>
              <a:rPr sz="2025" b="1">
                <a:solidFill>
                  <a:srgbClr val="ADAEAA"/>
                </a:solidFill>
                <a:latin typeface="Rajdhani"/>
                <a:ea typeface="Rajdhani"/>
                <a:cs typeface="Rajdhani"/>
              </a:rPr>
              <a:t>A familiar-looking prefix</a:t>
            </a:r>
          </a:p>
        </p:txBody>
      </p:sp>
      <p:sp>
        <p:nvSpPr>
          <p:cNvPr id="7" name="The actual domain">
            <a:extLst xmlns:a="http://schemas.openxmlformats.org/drawingml/2006/main">
              <a:ext uri="{FF2B5EF4-FFF2-40B4-BE49-F238E27FC236}">
                <a16:creationId xmlns:a16="http://schemas.microsoft.com/office/drawing/2014/main" id="{7E908055-F59C-4297-B556-32A14E912943}"/>
              </a:ext>
            </a:extLst>
          </p:cNvPr>
          <p:cNvSpPr>
            <a:spLocks xmlns:a="http://schemas.openxmlformats.org/drawingml/2006/main" noGrp="1"/>
          </p:cNvSpPr>
          <p:nvPr/>
        </p:nvSpPr>
        <p:spPr>
          <a:xfrm xmlns:a="http://schemas.openxmlformats.org/drawingml/2006/main">
            <a:off x="6067425" y="4238625"/>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ADAEAA"/>
                </a:solidFill>
                <a:latin typeface="Rajdhani"/>
                <a:ea typeface="Rajdhani"/>
                <a:cs typeface="Rajdhani"/>
              </a:defRPr>
            </a:defPPr>
          </a:lstStyle>
          <a:p xmlns:a="http://schemas.openxmlformats.org/drawingml/2006/main">
            <a:pPr>
              <a:defRPr sz="2025" b="1">
                <a:solidFill>
                  <a:srgbClr val="ADAEAA"/>
                </a:solidFill>
                <a:latin typeface="Rajdhani"/>
                <a:ea typeface="Rajdhani"/>
                <a:cs typeface="Rajdhani"/>
              </a:defRPr>
            </a:pPr>
            <a:r>
              <a:rPr sz="2025" b="1">
                <a:solidFill>
                  <a:srgbClr val="ADAEAA"/>
                </a:solidFill>
                <a:latin typeface="Rajdhani"/>
                <a:ea typeface="Rajdhani"/>
                <a:cs typeface="Rajdhani"/>
              </a:rPr>
              <a:t>The actual domain</a:t>
            </a:r>
          </a:p>
        </p:txBody>
      </p:sp>
      <p:sp>
        <p:nvSpPr>
          <p:cNvPr id="8" name="“brand” is only a subdomain.">
            <a:extLst xmlns:a="http://schemas.openxmlformats.org/drawingml/2006/main">
              <a:ext uri="{FF2B5EF4-FFF2-40B4-BE49-F238E27FC236}">
                <a16:creationId xmlns:a16="http://schemas.microsoft.com/office/drawing/2014/main" id="{C7D16988-8AB9-4A87-97EB-C8A1F425B120}"/>
              </a:ext>
            </a:extLst>
          </p:cNvPr>
          <p:cNvSpPr>
            <a:spLocks xmlns:a="http://schemas.openxmlformats.org/drawingml/2006/main" noGrp="1"/>
          </p:cNvSpPr>
          <p:nvPr/>
        </p:nvSpPr>
        <p:spPr>
          <a:xfrm xmlns:a="http://schemas.openxmlformats.org/drawingml/2006/main">
            <a:off x="647700" y="4752975"/>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EEEEE9"/>
                </a:solidFill>
                <a:latin typeface="Inter"/>
                <a:ea typeface="Inter"/>
                <a:cs typeface="Inter"/>
              </a:defRPr>
            </a:defPPr>
          </a:lstStyle>
          <a:p xmlns:a="http://schemas.openxmlformats.org/drawingml/2006/main">
            <a:pPr>
              <a:defRPr sz="1875" b="0">
                <a:solidFill>
                  <a:srgbClr val="EEEEE9"/>
                </a:solidFill>
                <a:latin typeface="Inter"/>
                <a:ea typeface="Inter"/>
                <a:cs typeface="Inter"/>
              </a:defRPr>
            </a:pPr>
            <a:r>
              <a:rPr sz="1875" b="0">
                <a:solidFill>
                  <a:srgbClr val="EEEEE9"/>
                </a:solidFill>
                <a:latin typeface="Inter"/>
                <a:ea typeface="Inter"/>
                <a:cs typeface="Inter"/>
              </a:rPr>
              <a:t>“brand” is only a subdomain.</a:t>
            </a:r>
          </a:p>
        </p:txBody>
      </p:sp>
      <p:sp>
        <p:nvSpPr>
          <p:cNvPr id="9" name="example-shop.test">
            <a:extLst xmlns:a="http://schemas.openxmlformats.org/drawingml/2006/main">
              <a:ext uri="{FF2B5EF4-FFF2-40B4-BE49-F238E27FC236}">
                <a16:creationId xmlns:a16="http://schemas.microsoft.com/office/drawing/2014/main" id="{35AD31DD-3070-4114-9E8B-B14FC0E28803}"/>
              </a:ext>
            </a:extLst>
          </p:cNvPr>
          <p:cNvSpPr>
            <a:spLocks xmlns:a="http://schemas.openxmlformats.org/drawingml/2006/main" noGrp="1"/>
          </p:cNvSpPr>
          <p:nvPr/>
        </p:nvSpPr>
        <p:spPr>
          <a:xfrm xmlns:a="http://schemas.openxmlformats.org/drawingml/2006/main">
            <a:off x="6067425" y="4676775"/>
            <a:ext cx="5524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225" b="1">
                <a:solidFill>
                  <a:srgbClr val="EEEEE9"/>
                </a:solidFill>
                <a:latin typeface="Rajdhani"/>
                <a:ea typeface="Rajdhani"/>
                <a:cs typeface="Rajdhani"/>
              </a:defRPr>
            </a:defPPr>
          </a:lstStyle>
          <a:p xmlns:a="http://schemas.openxmlformats.org/drawingml/2006/main">
            <a:pPr>
              <a:defRPr sz="3225" b="1">
                <a:solidFill>
                  <a:srgbClr val="EEEEE9"/>
                </a:solidFill>
                <a:latin typeface="Rajdhani"/>
                <a:ea typeface="Rajdhani"/>
                <a:cs typeface="Rajdhani"/>
              </a:defRPr>
            </a:pPr>
            <a:r>
              <a:rPr sz="3225" b="1">
                <a:solidFill>
                  <a:srgbClr val="EEEEE9"/>
                </a:solidFill>
                <a:latin typeface="Rajdhani"/>
                <a:ea typeface="Rajdhani"/>
                <a:cs typeface="Rajdhani"/>
              </a:rPr>
              <a:t>example-shop.test</a:t>
            </a:r>
          </a:p>
        </p:txBody>
      </p:sp>
      <p:sp>
        <p:nvSpPr>
          <p:cNvPr id="10" name="Parsing: tldts + Public Suffix List, includi">
            <a:extLst xmlns:a="http://schemas.openxmlformats.org/drawingml/2006/main">
              <a:ext uri="{FF2B5EF4-FFF2-40B4-BE49-F238E27FC236}">
                <a16:creationId xmlns:a16="http://schemas.microsoft.com/office/drawing/2014/main" id="{189AFA4A-CD9F-4DE9-B946-BAC34804277D}"/>
              </a:ext>
            </a:extLst>
          </p:cNvPr>
          <p:cNvSpPr>
            <a:spLocks xmlns:a="http://schemas.openxmlformats.org/drawingml/2006/main" noGrp="1"/>
          </p:cNvSpPr>
          <p:nvPr/>
        </p:nvSpPr>
        <p:spPr>
          <a:xfrm xmlns:a="http://schemas.openxmlformats.org/drawingml/2006/main">
            <a:off x="647700" y="5705475"/>
            <a:ext cx="10715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ADAEAA"/>
                </a:solidFill>
                <a:latin typeface="Inter"/>
                <a:ea typeface="Inter"/>
                <a:cs typeface="Inter"/>
              </a:defRPr>
            </a:defPPr>
          </a:lstStyle>
          <a:p xmlns:a="http://schemas.openxmlformats.org/drawingml/2006/main">
            <a:pPr>
              <a:defRPr sz="1500" b="0">
                <a:solidFill>
                  <a:srgbClr val="ADAEAA"/>
                </a:solidFill>
                <a:latin typeface="Inter"/>
                <a:ea typeface="Inter"/>
                <a:cs typeface="Inter"/>
              </a:defRPr>
            </a:pPr>
            <a:r>
              <a:rPr sz="1500" b="0">
                <a:solidFill>
                  <a:srgbClr val="ADAEAA"/>
                </a:solidFill>
                <a:latin typeface="Inter"/>
                <a:ea typeface="Inter"/>
                <a:cs typeface="Inter"/>
              </a:rPr>
              <a:t>Parsing: tldts + Public Suffix List, including private suffixes. Fictional address.</a:t>
            </a:r>
          </a:p>
        </p:txBody>
      </p:sp>
    </p:spTree>
    <p:extLst>
      <p:ext uri="{BB962C8B-B14F-4D97-AF65-F5344CB8AC3E}">
        <p14:creationId xmlns:p14="http://schemas.microsoft.com/office/powerpoint/2010/main" val="1302672922"/>
      </p:ext>
    </p:extLst>
  </p:cSld>
</p:sld>
</file>

<file path=ppt/slides/slide4.xml><?xml version="1.0" encoding="utf-8"?>
<p:sld xmlns:p="http://schemas.openxmlformats.org/presentationml/2006/main">
  <p:cSld>
    <p:bg>
      <p:bgPr>
        <a:solidFill xmlns:a="http://schemas.openxmlformats.org/drawingml/2006/main">
          <a:srgbClr val="191A1B"/>
        </a:solidFill>
      </p:bgPr>
    </p:bg>
    <p:spTree>
      <p:nvGrpSpPr>
        <p:cNvPr id="1" name=""/>
        <p:cNvGrpSpPr/>
        <p:nvPr/>
      </p:nvGrpSpPr>
      <p:grpSpPr>
        <a:xfrm xmlns:a="http://schemas.openxmlformats.org/drawingml/2006/main"/>
      </p:grpSpPr>
      <p:sp>
        <p:nvSpPr>
          <p:cNvPr id="7" name="DETERMINISTIC DECISION RULES">
            <a:extLst xmlns:a="http://schemas.openxmlformats.org/drawingml/2006/main">
              <a:ext uri="{FF2B5EF4-FFF2-40B4-BE49-F238E27FC236}">
                <a16:creationId xmlns:a16="http://schemas.microsoft.com/office/drawing/2014/main" id="{F6BF2A6C-5112-4BF7-A6CD-71CE05349FA2}"/>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ADAEAA"/>
                </a:solidFill>
                <a:latin typeface="Inter"/>
                <a:ea typeface="Inter"/>
                <a:cs typeface="Inter"/>
              </a:defRPr>
            </a:defPPr>
          </a:lstStyle>
          <a:p xmlns:a="http://schemas.openxmlformats.org/drawingml/2006/main">
            <a:pPr>
              <a:defRPr sz="1275" b="0">
                <a:solidFill>
                  <a:srgbClr val="ADAEAA"/>
                </a:solidFill>
                <a:latin typeface="Inter"/>
                <a:ea typeface="Inter"/>
                <a:cs typeface="Inter"/>
              </a:defRPr>
            </a:pPr>
            <a:r>
              <a:rPr sz="1275" b="0">
                <a:solidFill>
                  <a:srgbClr val="ADAEAA"/>
                </a:solidFill>
                <a:latin typeface="Inter"/>
                <a:ea typeface="Inter"/>
                <a:cs typeface="Inter"/>
              </a:rPr>
              <a:t>DETERMINISTIC DECISION RULES</a:t>
            </a:r>
          </a:p>
        </p:txBody>
      </p:sp>
      <p:sp>
        <p:nvSpPr>
          <p:cNvPr id="2" name="meadow">
            <a:extLst xmlns:a="http://schemas.openxmlformats.org/drawingml/2006/main">
              <a:ext uri="{FF2B5EF4-FFF2-40B4-BE49-F238E27FC236}">
                <a16:creationId xmlns:a16="http://schemas.microsoft.com/office/drawing/2014/main" id="{728B0ADB-C6DE-465B-B667-0BE4A70E7A97}"/>
              </a:ext>
            </a:extLst>
          </p:cNvPr>
          <p:cNvSpPr>
            <a:spLocks xmlns:a="http://schemas.openxmlformats.org/drawingml/2006/main" noGrp="1"/>
          </p:cNvSpPr>
          <p:nvPr/>
        </p:nvSpPr>
        <p:spPr>
          <a:xfrm xmlns:a="http://schemas.openxmlformats.org/drawingml/2006/main">
            <a:off x="609600" y="63246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ADAEAA"/>
                </a:solidFill>
                <a:latin typeface="Rajdhani"/>
                <a:ea typeface="Rajdhani"/>
                <a:cs typeface="Rajdhani"/>
              </a:defRPr>
            </a:defPPr>
          </a:lstStyle>
          <a:p xmlns:a="http://schemas.openxmlformats.org/drawingml/2006/main">
            <a:pPr>
              <a:defRPr sz="1950" b="1">
                <a:solidFill>
                  <a:srgbClr val="ADAEAA"/>
                </a:solidFill>
                <a:latin typeface="Rajdhani"/>
                <a:ea typeface="Rajdhani"/>
                <a:cs typeface="Rajdhani"/>
              </a:defRPr>
            </a:pPr>
            <a:r>
              <a:rPr sz="1950" b="1">
                <a:solidFill>
                  <a:srgbClr val="ADAEAA"/>
                </a:solidFill>
                <a:latin typeface="Rajdhani"/>
                <a:ea typeface="Rajdhani"/>
                <a:cs typeface="Rajdhani"/>
              </a:rPr>
              <a:t>meadow</a:t>
            </a:r>
          </a:p>
        </p:txBody>
      </p:sp>
      <p:sp>
        <p:nvSpPr>
          <p:cNvPr id="3" name="04 / 06">
            <a:extLst xmlns:a="http://schemas.openxmlformats.org/drawingml/2006/main">
              <a:ext uri="{FF2B5EF4-FFF2-40B4-BE49-F238E27FC236}">
                <a16:creationId xmlns:a16="http://schemas.microsoft.com/office/drawing/2014/main" id="{468FB381-28B0-4DDD-9EE8-4A00CE0912DC}"/>
              </a:ext>
            </a:extLst>
          </p:cNvPr>
          <p:cNvSpPr>
            <a:spLocks xmlns:a="http://schemas.openxmlformats.org/drawingml/2006/main" noGrp="1"/>
          </p:cNvSpPr>
          <p:nvPr/>
        </p:nvSpPr>
        <p:spPr>
          <a:xfrm xmlns:a="http://schemas.openxmlformats.org/drawingml/2006/main">
            <a:off x="10763250" y="63817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ADAEAA"/>
                </a:solidFill>
                <a:latin typeface="Inter"/>
                <a:ea typeface="Inter"/>
                <a:cs typeface="Inter"/>
              </a:defRPr>
            </a:defPPr>
          </a:lstStyle>
          <a:p xmlns:a="http://schemas.openxmlformats.org/drawingml/2006/main">
            <a:pPr>
              <a:defRPr sz="1200" b="0">
                <a:solidFill>
                  <a:srgbClr val="ADAEAA"/>
                </a:solidFill>
                <a:latin typeface="Inter"/>
                <a:ea typeface="Inter"/>
                <a:cs typeface="Inter"/>
              </a:defRPr>
            </a:pPr>
            <a:r>
              <a:rPr sz="1200" b="0">
                <a:solidFill>
                  <a:srgbClr val="ADAEAA"/>
                </a:solidFill>
                <a:latin typeface="Inter"/>
                <a:ea typeface="Inter"/>
                <a:cs typeface="Inter"/>
              </a:rPr>
              <a:t>04 / 06</a:t>
            </a:r>
          </a:p>
        </p:txBody>
      </p:sp>
      <p:sp>
        <p:nvSpPr>
          <p:cNvPr id="4" name="The verdict follows&#10;explicit conditions">
            <a:extLst xmlns:a="http://schemas.openxmlformats.org/drawingml/2006/main">
              <a:ext uri="{FF2B5EF4-FFF2-40B4-BE49-F238E27FC236}">
                <a16:creationId xmlns:a16="http://schemas.microsoft.com/office/drawing/2014/main" id="{BA1E7C6F-8DCF-4895-92D7-B4A348D77E2D}"/>
              </a:ext>
            </a:extLst>
          </p:cNvPr>
          <p:cNvSpPr>
            <a:spLocks xmlns:a="http://schemas.openxmlformats.org/drawingml/2006/main" noGrp="1"/>
          </p:cNvSpPr>
          <p:nvPr/>
        </p:nvSpPr>
        <p:spPr>
          <a:xfrm xmlns:a="http://schemas.openxmlformats.org/drawingml/2006/main">
            <a:off x="609600" y="1028700"/>
            <a:ext cx="10953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875" b="1">
                <a:solidFill>
                  <a:srgbClr val="EEEEE9"/>
                </a:solidFill>
                <a:latin typeface="Rajdhani"/>
                <a:ea typeface="Rajdhani"/>
                <a:cs typeface="Rajdhani"/>
              </a:defRPr>
            </a:defPPr>
          </a:lstStyle>
          <a:p xmlns:a="http://schemas.openxmlformats.org/drawingml/2006/main">
            <a:pPr>
              <a:defRPr sz="4875" b="1">
                <a:solidFill>
                  <a:srgbClr val="EEEEE9"/>
                </a:solidFill>
                <a:latin typeface="Rajdhani"/>
                <a:ea typeface="Rajdhani"/>
                <a:cs typeface="Rajdhani"/>
              </a:defRPr>
            </a:pPr>
            <a:r>
              <a:rPr sz="4875" b="1">
                <a:solidFill>
                  <a:srgbClr val="EEEEE9"/>
                </a:solidFill>
                <a:latin typeface="Rajdhani"/>
                <a:ea typeface="Rajdhani"/>
                <a:cs typeface="Rajdhani"/>
              </a:rPr>
              <a:t>The verdict follows</a:t>
            </a:r>
          </a:p>
          <a:p xmlns:a="http://schemas.openxmlformats.org/drawingml/2006/main">
            <a:pPr>
              <a:defRPr sz="4875" b="1">
                <a:solidFill>
                  <a:srgbClr val="EEEEE9"/>
                </a:solidFill>
                <a:latin typeface="Rajdhani"/>
                <a:ea typeface="Rajdhani"/>
                <a:cs typeface="Rajdhani"/>
              </a:defRPr>
            </a:pPr>
            <a:r>
              <a:rPr sz="4875" b="1">
                <a:solidFill>
                  <a:srgbClr val="EEEEE9"/>
                </a:solidFill>
                <a:latin typeface="Rajdhani"/>
                <a:ea typeface="Rajdhani"/>
                <a:cs typeface="Rajdhani"/>
              </a:rPr>
              <a:t>explicit conditions</a:t>
            </a:r>
          </a:p>
        </p:txBody>
      </p:sp>
      <p:graphicFrame>
        <p:nvGraphicFramePr>
          <p:cNvPr id="5" name="">
            <a:extLst xmlns:a="http://schemas.openxmlformats.org/drawingml/2006/main">
              <a:ext uri="{FF2B5EF4-FFF2-40B4-BE49-F238E27FC236}">
                <a16:creationId xmlns:a16="http://schemas.microsoft.com/office/drawing/2014/main" id="{81C28E2B-975A-478C-963B-AB3CB4FB25DC}"/>
              </a:ext>
            </a:extLst>
          </p:cNvPr>
          <p:cNvGraphicFramePr/>
          <p:nvPr/>
        </p:nvGraphicFramePr>
        <p:xfrm>
          <a:off xmlns:a="http://schemas.openxmlformats.org/drawingml/2006/main" x="609600" y="2752725"/>
          <a:ext xmlns:a="http://schemas.openxmlformats.org/drawingml/2006/main" cx="10972800" cy="2876550"/>
        </p:xfrm>
        <a:graphic xmlns:a="http://schemas.openxmlformats.org/drawingml/2006/main">
          <a:graphicData uri="http://schemas.openxmlformats.org/drawingml/2006/table">
            <a:tbl>
              <a:tblPr firstRow="0" firstCol="0" bandRow="0"/>
              <a:tblGrid>
                <a:gridCol w="8334375"/>
                <a:gridCol w="2638425"/>
              </a:tblGrid>
              <a:tr h="400050">
                <a:tc>
                  <a:txBody>
                    <a:bodyPr lIns="114300" tIns="95250" rIns="114300" bIns="95250">
                      <a:noAutofit/>
                    </a:bodyPr>
                    <a:lstStyle/>
                    <a:p>
                      <a:r>
                        <a:rPr sz="1200" b="0">
                          <a:solidFill>
                            <a:srgbClr val="ADAEAA"/>
                          </a:solidFill>
                          <a:latin typeface="Inter"/>
                          <a:ea typeface="Inter"/>
                          <a:cs typeface="Inter"/>
                        </a:rPr>
                        <a:t>OBSERVED EVIDENCE</a:t>
                      </a:r>
                    </a:p>
                  </a:txBody>
                  <a:tcPr marL="91440" marR="91440" marT="45720" marB="45720" anchor="ctr">
                    <a:solidFill>
                      <a:srgbClr val="191A1B"/>
                    </a:solidFill>
                  </a:tcPr>
                </a:tc>
                <a:tc>
                  <a:txBody>
                    <a:bodyPr lIns="114300" tIns="95250" rIns="114300" bIns="95250">
                      <a:noAutofit/>
                    </a:bodyPr>
                    <a:lstStyle/>
                    <a:p>
                      <a:r>
                        <a:rPr sz="1200" b="1">
                          <a:solidFill>
                            <a:srgbClr val="ADAEAA"/>
                          </a:solidFill>
                          <a:latin typeface="Inter"/>
                          <a:ea typeface="Inter"/>
                          <a:cs typeface="Inter"/>
                        </a:rPr>
                        <a:t>RESULT</a:t>
                      </a:r>
                    </a:p>
                  </a:txBody>
                  <a:tcPr marL="91440" marR="91440" marT="45720" marB="45720" anchor="ctr">
                    <a:solidFill>
                      <a:srgbClr val="191A1B"/>
                    </a:solidFill>
                  </a:tcPr>
                </a:tc>
              </a:tr>
              <a:tr h="866775">
                <a:tc>
                  <a:txBody>
                    <a:bodyPr lIns="114300" tIns="95250" rIns="114300" bIns="95250">
                      <a:noAutofit/>
                    </a:bodyPr>
                    <a:lstStyle/>
                    <a:p>
                      <a:r>
                        <a:rPr sz="1875" b="0">
                          <a:solidFill>
                            <a:srgbClr val="EEEEE9"/>
                          </a:solidFill>
                          <a:latin typeface="Inter"/>
                          <a:ea typeface="Inter"/>
                          <a:cs typeface="Inter"/>
                        </a:rPr>
                        <a:t>Sensitive fields on HTTP, or</a:t>
                      </a:r>
                    </a:p>
                    <a:p>
                      <a:r>
                        <a:rPr sz="1875" b="0">
                          <a:solidFill>
                            <a:srgbClr val="EEEEE9"/>
                          </a:solidFill>
                          <a:latin typeface="Inter"/>
                          <a:ea typeface="Inter"/>
                          <a:cs typeface="Inter"/>
                        </a:rPr>
                        <a:t>a sensitive form with an HTTP destination</a:t>
                      </a:r>
                    </a:p>
                  </a:txBody>
                  <a:tcPr marL="91440" marR="91440" marT="45720" marB="45720" anchor="ctr">
                    <a:solidFill>
                      <a:srgbClr val="191A1B"/>
                    </a:solidFill>
                  </a:tcPr>
                </a:tc>
                <a:tc>
                  <a:txBody>
                    <a:bodyPr lIns="114300" tIns="95250" rIns="114300" bIns="95250">
                      <a:noAutofit/>
                    </a:bodyPr>
                    <a:lstStyle/>
                    <a:p>
                      <a:r>
                        <a:rPr sz="2550" b="1">
                          <a:solidFill>
                            <a:srgbClr val="EEEEE9"/>
                          </a:solidFill>
                          <a:latin typeface="Rajdhani"/>
                          <a:ea typeface="Rajdhani"/>
                          <a:cs typeface="Rajdhani"/>
                        </a:rPr>
                        <a:t>HIGH RISK</a:t>
                      </a:r>
                    </a:p>
                  </a:txBody>
                  <a:tcPr marL="91440" marR="91440" marT="45720" marB="45720" anchor="ctr">
                    <a:solidFill>
                      <a:srgbClr val="191A1B"/>
                    </a:solidFill>
                  </a:tcPr>
                </a:tc>
              </a:tr>
              <a:tr h="942975">
                <a:tc>
                  <a:txBody>
                    <a:bodyPr lIns="114300" tIns="95250" rIns="114300" bIns="95250">
                      <a:noAutofit/>
                    </a:bodyPr>
                    <a:lstStyle/>
                    <a:p>
                      <a:r>
                        <a:rPr sz="1875" b="0">
                          <a:solidFill>
                            <a:srgbClr val="EEEEE9"/>
                          </a:solidFill>
                          <a:latin typeface="Inter"/>
                          <a:ea typeface="Inter"/>
                          <a:cs typeface="Inter"/>
                        </a:rPr>
                        <a:t>Covered-brand hostname resemblance</a:t>
                      </a:r>
                    </a:p>
                    <a:p>
                      <a:r>
                        <a:rPr sz="1875" b="0">
                          <a:solidFill>
                            <a:srgbClr val="EEEEE9"/>
                          </a:solidFill>
                          <a:latin typeface="Inter"/>
                          <a:ea typeface="Inter"/>
                          <a:cs typeface="Inter"/>
                        </a:rPr>
                        <a:t>+ matching page identity + age &lt; 30 days</a:t>
                      </a:r>
                    </a:p>
                  </a:txBody>
                  <a:tcPr marL="91440" marR="91440" marT="45720" marB="45720" anchor="ctr">
                    <a:solidFill>
                      <a:srgbClr val="191A1B"/>
                    </a:solidFill>
                  </a:tcPr>
                </a:tc>
                <a:tc>
                  <a:txBody>
                    <a:bodyPr lIns="114300" tIns="95250" rIns="114300" bIns="95250">
                      <a:noAutofit/>
                    </a:bodyPr>
                    <a:lstStyle/>
                    <a:p>
                      <a:r>
                        <a:rPr sz="2550" b="1">
                          <a:solidFill>
                            <a:srgbClr val="EEEEE9"/>
                          </a:solidFill>
                          <a:latin typeface="Rajdhani"/>
                          <a:ea typeface="Rajdhani"/>
                          <a:cs typeface="Rajdhani"/>
                        </a:rPr>
                        <a:t>HIGH RISK</a:t>
                      </a:r>
                    </a:p>
                  </a:txBody>
                  <a:tcPr marL="91440" marR="91440" marT="45720" marB="45720" anchor="ctr">
                    <a:solidFill>
                      <a:srgbClr val="191A1B"/>
                    </a:solidFill>
                  </a:tcPr>
                </a:tc>
              </a:tr>
              <a:tr h="666750">
                <a:tc>
                  <a:txBody>
                    <a:bodyPr lIns="114300" tIns="95250" rIns="114300" bIns="95250">
                      <a:noAutofit/>
                    </a:bodyPr>
                    <a:lstStyle/>
                    <a:p>
                      <a:r>
                        <a:rPr sz="1875" b="0">
                          <a:solidFill>
                            <a:srgbClr val="EEEEE9"/>
                          </a:solidFill>
                          <a:latin typeface="Inter"/>
                          <a:ea typeface="Inter"/>
                          <a:cs typeface="Inter"/>
                        </a:rPr>
                        <a:t>Age &lt; 30 days alone</a:t>
                      </a:r>
                    </a:p>
                  </a:txBody>
                  <a:tcPr marL="91440" marR="91440" marT="45720" marB="45720" anchor="ctr">
                    <a:solidFill>
                      <a:srgbClr val="191A1B"/>
                    </a:solidFill>
                  </a:tcPr>
                </a:tc>
                <a:tc>
                  <a:txBody>
                    <a:bodyPr lIns="114300" tIns="95250" rIns="114300" bIns="95250">
                      <a:noAutofit/>
                    </a:bodyPr>
                    <a:lstStyle/>
                    <a:p>
                      <a:r>
                        <a:rPr sz="2550" b="1">
                          <a:solidFill>
                            <a:srgbClr val="EEEEE9"/>
                          </a:solidFill>
                          <a:latin typeface="Rajdhani"/>
                          <a:ea typeface="Rajdhani"/>
                          <a:cs typeface="Rajdhani"/>
                        </a:rPr>
                        <a:t>REVIEW</a:t>
                      </a:r>
                    </a:p>
                  </a:txBody>
                  <a:tcPr marL="91440" marR="91440" marT="45720" marB="45720" anchor="ctr">
                    <a:solidFill>
                      <a:srgbClr val="191A1B"/>
                    </a:solidFill>
                  </a:tcPr>
                </a:tc>
              </a:tr>
            </a:tbl>
          </a:graphicData>
        </a:graphic>
      </p:graphicFrame>
      <p:sp>
        <p:nvSpPr>
          <p:cNvPr id="6" name="Selected rules. The 30-day threshold is a he">
            <a:extLst xmlns:a="http://schemas.openxmlformats.org/drawingml/2006/main">
              <a:ext uri="{FF2B5EF4-FFF2-40B4-BE49-F238E27FC236}">
                <a16:creationId xmlns:a16="http://schemas.microsoft.com/office/drawing/2014/main" id="{4996CE07-89B9-421F-A0D7-A8A8AC243522}"/>
              </a:ext>
            </a:extLst>
          </p:cNvPr>
          <p:cNvSpPr>
            <a:spLocks xmlns:a="http://schemas.openxmlformats.org/drawingml/2006/main" noGrp="1"/>
          </p:cNvSpPr>
          <p:nvPr/>
        </p:nvSpPr>
        <p:spPr>
          <a:xfrm xmlns:a="http://schemas.openxmlformats.org/drawingml/2006/main">
            <a:off x="647700" y="58293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ADAEAA"/>
                </a:solidFill>
                <a:latin typeface="Inter"/>
                <a:ea typeface="Inter"/>
                <a:cs typeface="Inter"/>
              </a:defRPr>
            </a:defPPr>
          </a:lstStyle>
          <a:p xmlns:a="http://schemas.openxmlformats.org/drawingml/2006/main">
            <a:pPr>
              <a:defRPr sz="1500" b="0">
                <a:solidFill>
                  <a:srgbClr val="ADAEAA"/>
                </a:solidFill>
                <a:latin typeface="Inter"/>
                <a:ea typeface="Inter"/>
                <a:cs typeface="Inter"/>
              </a:defRPr>
            </a:pPr>
            <a:r>
              <a:rPr sz="1500" b="0">
                <a:solidFill>
                  <a:srgbClr val="ADAEAA"/>
                </a:solidFill>
                <a:latin typeface="Inter"/>
                <a:ea typeface="Inter"/>
                <a:cs typeface="Inter"/>
              </a:rPr>
              <a:t>Selected rules. The 30-day threshold is a heuristic, not a validated fraud boundary.</a:t>
            </a:r>
          </a:p>
        </p:txBody>
      </p:sp>
    </p:spTree>
    <p:extLst>
      <p:ext uri="{BB962C8B-B14F-4D97-AF65-F5344CB8AC3E}">
        <p14:creationId xmlns:p14="http://schemas.microsoft.com/office/powerpoint/2010/main" val="1293007220"/>
      </p:ext>
    </p:extLst>
  </p:cSld>
</p:sld>
</file>

<file path=ppt/slides/slide5.xml><?xml version="1.0" encoding="utf-8"?>
<p:sld xmlns:p="http://schemas.openxmlformats.org/presentationml/2006/main">
  <p:cSld>
    <p:bg>
      <p:bgPr>
        <a:solidFill xmlns:a="http://schemas.openxmlformats.org/drawingml/2006/main">
          <a:srgbClr val="191A1B"/>
        </a:solidFill>
      </p:bgPr>
    </p:bg>
    <p:spTree>
      <p:nvGrpSpPr>
        <p:cNvPr id="1" name=""/>
        <p:cNvGrpSpPr/>
        <p:nvPr/>
      </p:nvGrpSpPr>
      <p:grpSpPr>
        <a:xfrm xmlns:a="http://schemas.openxmlformats.org/drawingml/2006/main"/>
      </p:grpSpPr>
      <p:sp>
        <p:nvSpPr>
          <p:cNvPr id="12" name="IMPLEMENTATION AND PRIVACY BOUNDARY">
            <a:extLst xmlns:a="http://schemas.openxmlformats.org/drawingml/2006/main">
              <a:ext uri="{FF2B5EF4-FFF2-40B4-BE49-F238E27FC236}">
                <a16:creationId xmlns:a16="http://schemas.microsoft.com/office/drawing/2014/main" id="{D0C1B2A5-DDF9-43E8-ADE6-7662B5DD3FBF}"/>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ADAEAA"/>
                </a:solidFill>
                <a:latin typeface="Inter"/>
                <a:ea typeface="Inter"/>
                <a:cs typeface="Inter"/>
              </a:defRPr>
            </a:defPPr>
          </a:lstStyle>
          <a:p xmlns:a="http://schemas.openxmlformats.org/drawingml/2006/main">
            <a:pPr>
              <a:defRPr sz="1275" b="0">
                <a:solidFill>
                  <a:srgbClr val="ADAEAA"/>
                </a:solidFill>
                <a:latin typeface="Inter"/>
                <a:ea typeface="Inter"/>
                <a:cs typeface="Inter"/>
              </a:defRPr>
            </a:pPr>
            <a:r>
              <a:rPr sz="1275" b="0">
                <a:solidFill>
                  <a:srgbClr val="ADAEAA"/>
                </a:solidFill>
                <a:latin typeface="Inter"/>
                <a:ea typeface="Inter"/>
                <a:cs typeface="Inter"/>
              </a:rPr>
              <a:t>IMPLEMENTATION AND PRIVACY BOUNDARY</a:t>
            </a:r>
          </a:p>
        </p:txBody>
      </p:sp>
      <p:sp>
        <p:nvSpPr>
          <p:cNvPr id="2" name="meadow">
            <a:extLst xmlns:a="http://schemas.openxmlformats.org/drawingml/2006/main">
              <a:ext uri="{FF2B5EF4-FFF2-40B4-BE49-F238E27FC236}">
                <a16:creationId xmlns:a16="http://schemas.microsoft.com/office/drawing/2014/main" id="{AEBA17A1-9486-4176-8191-5B23C90BBBF3}"/>
              </a:ext>
            </a:extLst>
          </p:cNvPr>
          <p:cNvSpPr>
            <a:spLocks xmlns:a="http://schemas.openxmlformats.org/drawingml/2006/main" noGrp="1"/>
          </p:cNvSpPr>
          <p:nvPr/>
        </p:nvSpPr>
        <p:spPr>
          <a:xfrm xmlns:a="http://schemas.openxmlformats.org/drawingml/2006/main">
            <a:off x="609600" y="63246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ADAEAA"/>
                </a:solidFill>
                <a:latin typeface="Rajdhani"/>
                <a:ea typeface="Rajdhani"/>
                <a:cs typeface="Rajdhani"/>
              </a:defRPr>
            </a:defPPr>
          </a:lstStyle>
          <a:p xmlns:a="http://schemas.openxmlformats.org/drawingml/2006/main">
            <a:pPr>
              <a:defRPr sz="1950" b="1">
                <a:solidFill>
                  <a:srgbClr val="ADAEAA"/>
                </a:solidFill>
                <a:latin typeface="Rajdhani"/>
                <a:ea typeface="Rajdhani"/>
                <a:cs typeface="Rajdhani"/>
              </a:defRPr>
            </a:pPr>
            <a:r>
              <a:rPr sz="1950" b="1">
                <a:solidFill>
                  <a:srgbClr val="ADAEAA"/>
                </a:solidFill>
                <a:latin typeface="Rajdhani"/>
                <a:ea typeface="Rajdhani"/>
                <a:cs typeface="Rajdhani"/>
              </a:rPr>
              <a:t>meadow</a:t>
            </a:r>
          </a:p>
        </p:txBody>
      </p:sp>
      <p:sp>
        <p:nvSpPr>
          <p:cNvPr id="3" name="05 / 06">
            <a:extLst xmlns:a="http://schemas.openxmlformats.org/drawingml/2006/main">
              <a:ext uri="{FF2B5EF4-FFF2-40B4-BE49-F238E27FC236}">
                <a16:creationId xmlns:a16="http://schemas.microsoft.com/office/drawing/2014/main" id="{649A66DD-DF8B-439D-808A-BFE1C3F9FA40}"/>
              </a:ext>
            </a:extLst>
          </p:cNvPr>
          <p:cNvSpPr>
            <a:spLocks xmlns:a="http://schemas.openxmlformats.org/drawingml/2006/main" noGrp="1"/>
          </p:cNvSpPr>
          <p:nvPr/>
        </p:nvSpPr>
        <p:spPr>
          <a:xfrm xmlns:a="http://schemas.openxmlformats.org/drawingml/2006/main">
            <a:off x="10763250" y="63817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ADAEAA"/>
                </a:solidFill>
                <a:latin typeface="Inter"/>
                <a:ea typeface="Inter"/>
                <a:cs typeface="Inter"/>
              </a:defRPr>
            </a:defPPr>
          </a:lstStyle>
          <a:p xmlns:a="http://schemas.openxmlformats.org/drawingml/2006/main">
            <a:pPr>
              <a:defRPr sz="1200" b="0">
                <a:solidFill>
                  <a:srgbClr val="ADAEAA"/>
                </a:solidFill>
                <a:latin typeface="Inter"/>
                <a:ea typeface="Inter"/>
                <a:cs typeface="Inter"/>
              </a:defRPr>
            </a:pPr>
            <a:r>
              <a:rPr sz="1200" b="0">
                <a:solidFill>
                  <a:srgbClr val="ADAEAA"/>
                </a:solidFill>
                <a:latin typeface="Inter"/>
                <a:ea typeface="Inter"/>
                <a:cs typeface="Inter"/>
              </a:rPr>
              <a:t>05 / 06</a:t>
            </a:r>
          </a:p>
        </p:txBody>
      </p:sp>
      <p:sp>
        <p:nvSpPr>
          <p:cNvPr id="4" name="Local page inspection.&#10;One optional registry">
            <a:extLst xmlns:a="http://schemas.openxmlformats.org/drawingml/2006/main">
              <a:ext uri="{FF2B5EF4-FFF2-40B4-BE49-F238E27FC236}">
                <a16:creationId xmlns:a16="http://schemas.microsoft.com/office/drawing/2014/main" id="{4D5CDAF2-822E-46C2-8586-2A54643A8802}"/>
              </a:ext>
            </a:extLst>
          </p:cNvPr>
          <p:cNvSpPr>
            <a:spLocks xmlns:a="http://schemas.openxmlformats.org/drawingml/2006/main" noGrp="1"/>
          </p:cNvSpPr>
          <p:nvPr/>
        </p:nvSpPr>
        <p:spPr>
          <a:xfrm xmlns:a="http://schemas.openxmlformats.org/drawingml/2006/main">
            <a:off x="609600" y="1028700"/>
            <a:ext cx="10953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650" b="1">
                <a:solidFill>
                  <a:srgbClr val="EEEEE9"/>
                </a:solidFill>
                <a:latin typeface="Rajdhani"/>
                <a:ea typeface="Rajdhani"/>
                <a:cs typeface="Rajdhani"/>
              </a:defRPr>
            </a:defPPr>
          </a:lstStyle>
          <a:p xmlns:a="http://schemas.openxmlformats.org/drawingml/2006/main">
            <a:pPr>
              <a:defRPr sz="4650" b="1">
                <a:solidFill>
                  <a:srgbClr val="EEEEE9"/>
                </a:solidFill>
                <a:latin typeface="Rajdhani"/>
                <a:ea typeface="Rajdhani"/>
                <a:cs typeface="Rajdhani"/>
              </a:defRPr>
            </a:pPr>
            <a:r>
              <a:rPr sz="4650" b="1">
                <a:solidFill>
                  <a:srgbClr val="EEEEE9"/>
                </a:solidFill>
                <a:latin typeface="Rajdhani"/>
                <a:ea typeface="Rajdhani"/>
                <a:cs typeface="Rajdhani"/>
              </a:rPr>
              <a:t>Local page inspection.</a:t>
            </a:r>
          </a:p>
          <a:p xmlns:a="http://schemas.openxmlformats.org/drawingml/2006/main">
            <a:pPr>
              <a:defRPr sz="4650" b="1">
                <a:solidFill>
                  <a:srgbClr val="EEEEE9"/>
                </a:solidFill>
                <a:latin typeface="Rajdhani"/>
                <a:ea typeface="Rajdhani"/>
                <a:cs typeface="Rajdhani"/>
              </a:defRPr>
            </a:pPr>
            <a:r>
              <a:rPr sz="4650" b="1">
                <a:solidFill>
                  <a:srgbClr val="EEEEE9"/>
                </a:solidFill>
                <a:latin typeface="Rajdhani"/>
                <a:ea typeface="Rajdhani"/>
                <a:cs typeface="Rajdhani"/>
              </a:rPr>
              <a:t>One optional registry lookup.</a:t>
            </a:r>
          </a:p>
        </p:txBody>
      </p:sp>
      <p:sp>
        <p:nvSpPr>
          <p:cNvPr id="5" name="Inside the browser">
            <a:extLst xmlns:a="http://schemas.openxmlformats.org/drawingml/2006/main">
              <a:ext uri="{FF2B5EF4-FFF2-40B4-BE49-F238E27FC236}">
                <a16:creationId xmlns:a16="http://schemas.microsoft.com/office/drawing/2014/main" id="{13B6ABFD-8A11-4ED1-9EEC-1A972A98F087}"/>
              </a:ext>
            </a:extLst>
          </p:cNvPr>
          <p:cNvSpPr>
            <a:spLocks xmlns:a="http://schemas.openxmlformats.org/drawingml/2006/main" noGrp="1"/>
          </p:cNvSpPr>
          <p:nvPr/>
        </p:nvSpPr>
        <p:spPr>
          <a:xfrm xmlns:a="http://schemas.openxmlformats.org/drawingml/2006/main">
            <a:off x="638175" y="3038475"/>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1">
                <a:solidFill>
                  <a:srgbClr val="EEEEE9"/>
                </a:solidFill>
                <a:latin typeface="Rajdhani"/>
                <a:ea typeface="Rajdhani"/>
                <a:cs typeface="Rajdhani"/>
              </a:defRPr>
            </a:defPPr>
          </a:lstStyle>
          <a:p xmlns:a="http://schemas.openxmlformats.org/drawingml/2006/main">
            <a:pPr>
              <a:defRPr sz="2850" b="1">
                <a:solidFill>
                  <a:srgbClr val="EEEEE9"/>
                </a:solidFill>
                <a:latin typeface="Rajdhani"/>
                <a:ea typeface="Rajdhani"/>
                <a:cs typeface="Rajdhani"/>
              </a:defRPr>
            </a:pPr>
            <a:r>
              <a:rPr sz="2850" b="1">
                <a:solidFill>
                  <a:srgbClr val="EEEEE9"/>
                </a:solidFill>
                <a:latin typeface="Rajdhani"/>
                <a:ea typeface="Rajdhani"/>
                <a:cs typeface="Rajdhani"/>
              </a:rPr>
              <a:t>Inside the browser</a:t>
            </a:r>
          </a:p>
        </p:txBody>
      </p:sp>
      <p:sp>
        <p:nvSpPr>
          <p:cNvPr id="6" name="Content script reads field types,&#10;form desti">
            <a:extLst xmlns:a="http://schemas.openxmlformats.org/drawingml/2006/main">
              <a:ext uri="{FF2B5EF4-FFF2-40B4-BE49-F238E27FC236}">
                <a16:creationId xmlns:a16="http://schemas.microsoft.com/office/drawing/2014/main" id="{2DABE529-A38E-49B7-887D-B6797F961C1E}"/>
              </a:ext>
            </a:extLst>
          </p:cNvPr>
          <p:cNvSpPr>
            <a:spLocks xmlns:a="http://schemas.openxmlformats.org/drawingml/2006/main" noGrp="1"/>
          </p:cNvSpPr>
          <p:nvPr/>
        </p:nvSpPr>
        <p:spPr>
          <a:xfrm xmlns:a="http://schemas.openxmlformats.org/drawingml/2006/main">
            <a:off x="657225" y="3733800"/>
            <a:ext cx="5476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EEEEE9"/>
                </a:solidFill>
                <a:latin typeface="Inter"/>
                <a:ea typeface="Inter"/>
                <a:cs typeface="Inter"/>
              </a:defRPr>
            </a:defPPr>
          </a:lstStyle>
          <a:p xmlns:a="http://schemas.openxmlformats.org/drawingml/2006/main">
            <a:pPr>
              <a:defRPr sz="1800" b="0">
                <a:solidFill>
                  <a:srgbClr val="EEEEE9"/>
                </a:solidFill>
                <a:latin typeface="Inter"/>
                <a:ea typeface="Inter"/>
                <a:cs typeface="Inter"/>
              </a:defRPr>
            </a:pPr>
            <a:r>
              <a:rPr sz="1800" b="0">
                <a:solidFill>
                  <a:srgbClr val="EEEEE9"/>
                </a:solidFill>
                <a:latin typeface="Inter"/>
                <a:ea typeface="Inter"/>
                <a:cs typeface="Inter"/>
              </a:rPr>
              <a:t>Content script reads field types,</a:t>
            </a:r>
          </a:p>
          <a:p xmlns:a="http://schemas.openxmlformats.org/drawingml/2006/main">
            <a:pPr>
              <a:defRPr sz="1800" b="0">
                <a:solidFill>
                  <a:srgbClr val="EEEEE9"/>
                </a:solidFill>
                <a:latin typeface="Inter"/>
                <a:ea typeface="Inter"/>
                <a:cs typeface="Inter"/>
              </a:defRPr>
            </a:pPr>
            <a:r>
              <a:rPr sz="1800" b="0">
                <a:solidFill>
                  <a:srgbClr val="EEEEE9"/>
                </a:solidFill>
                <a:latin typeface="Inter"/>
                <a:ea typeface="Inter"/>
                <a:cs typeface="Inter"/>
              </a:rPr>
              <a:t>form destinations and page metadata.</a:t>
            </a:r>
          </a:p>
        </p:txBody>
      </p:sp>
      <p:sp>
        <p:nvSpPr>
          <p:cNvPr id="7" name="650 ms debounce after relevant changes.&#10;The ">
            <a:extLst xmlns:a="http://schemas.openxmlformats.org/drawingml/2006/main">
              <a:ext uri="{FF2B5EF4-FFF2-40B4-BE49-F238E27FC236}">
                <a16:creationId xmlns:a16="http://schemas.microsoft.com/office/drawing/2014/main" id="{90C35FA4-2DD9-4D27-AF49-B8F8B2300604}"/>
              </a:ext>
            </a:extLst>
          </p:cNvPr>
          <p:cNvSpPr>
            <a:spLocks xmlns:a="http://schemas.openxmlformats.org/drawingml/2006/main" noGrp="1"/>
          </p:cNvSpPr>
          <p:nvPr/>
        </p:nvSpPr>
        <p:spPr>
          <a:xfrm xmlns:a="http://schemas.openxmlformats.org/drawingml/2006/main">
            <a:off x="657225" y="4781550"/>
            <a:ext cx="5476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ADAEAA"/>
                </a:solidFill>
                <a:latin typeface="Inter"/>
                <a:ea typeface="Inter"/>
                <a:cs typeface="Inter"/>
              </a:defRPr>
            </a:defPPr>
          </a:lstStyle>
          <a:p xmlns:a="http://schemas.openxmlformats.org/drawingml/2006/main">
            <a:pPr>
              <a:defRPr sz="1725" b="0">
                <a:solidFill>
                  <a:srgbClr val="ADAEAA"/>
                </a:solidFill>
                <a:latin typeface="Inter"/>
                <a:ea typeface="Inter"/>
                <a:cs typeface="Inter"/>
              </a:defRPr>
            </a:pPr>
            <a:r>
              <a:rPr sz="1725" b="0">
                <a:solidFill>
                  <a:srgbClr val="ADAEAA"/>
                </a:solidFill>
                <a:latin typeface="Inter"/>
                <a:ea typeface="Inter"/>
                <a:cs typeface="Inter"/>
              </a:rPr>
              <a:t>650 ms debounce after relevant changes.</a:t>
            </a:r>
          </a:p>
          <a:p xmlns:a="http://schemas.openxmlformats.org/drawingml/2006/main">
            <a:pPr>
              <a:defRPr sz="1725" b="0">
                <a:solidFill>
                  <a:srgbClr val="ADAEAA"/>
                </a:solidFill>
                <a:latin typeface="Inter"/>
                <a:ea typeface="Inter"/>
                <a:cs typeface="Inter"/>
              </a:defRPr>
            </a:pPr>
            <a:r>
              <a:rPr sz="1725" b="0">
                <a:solidFill>
                  <a:srgbClr val="ADAEAA"/>
                </a:solidFill>
                <a:latin typeface="Inter"/>
                <a:ea typeface="Inter"/>
                <a:cs typeface="Inter"/>
              </a:rPr>
              <a:t>The extension worker evaluates the rules.</a:t>
            </a:r>
          </a:p>
        </p:txBody>
      </p:sp>
      <p:sp>
        <p:nvSpPr>
          <p:cNvPr id="8" name="RDAP registration lookup">
            <a:extLst xmlns:a="http://schemas.openxmlformats.org/drawingml/2006/main">
              <a:ext uri="{FF2B5EF4-FFF2-40B4-BE49-F238E27FC236}">
                <a16:creationId xmlns:a16="http://schemas.microsoft.com/office/drawing/2014/main" id="{DA1814A3-8686-43B6-893D-03234A4AFDF9}"/>
              </a:ext>
            </a:extLst>
          </p:cNvPr>
          <p:cNvSpPr>
            <a:spLocks xmlns:a="http://schemas.openxmlformats.org/drawingml/2006/main" noGrp="1"/>
          </p:cNvSpPr>
          <p:nvPr/>
        </p:nvSpPr>
        <p:spPr>
          <a:xfrm xmlns:a="http://schemas.openxmlformats.org/drawingml/2006/main">
            <a:off x="6610350" y="3038475"/>
            <a:ext cx="50196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00" b="1">
                <a:solidFill>
                  <a:srgbClr val="EEEEE9"/>
                </a:solidFill>
                <a:latin typeface="Rajdhani"/>
                <a:ea typeface="Rajdhani"/>
                <a:cs typeface="Rajdhani"/>
              </a:defRPr>
            </a:defPPr>
          </a:lstStyle>
          <a:p xmlns:a="http://schemas.openxmlformats.org/drawingml/2006/main">
            <a:pPr>
              <a:defRPr sz="2700" b="1">
                <a:solidFill>
                  <a:srgbClr val="EEEEE9"/>
                </a:solidFill>
                <a:latin typeface="Rajdhani"/>
                <a:ea typeface="Rajdhani"/>
                <a:cs typeface="Rajdhani"/>
              </a:defRPr>
            </a:pPr>
            <a:r>
              <a:rPr sz="2700" b="1">
                <a:solidFill>
                  <a:srgbClr val="EEEEE9"/>
                </a:solidFill>
                <a:latin typeface="Rajdhani"/>
                <a:ea typeface="Rajdhani"/>
                <a:cs typeface="Rajdhani"/>
              </a:rPr>
              <a:t>RDAP registration lookup</a:t>
            </a:r>
          </a:p>
        </p:txBody>
      </p:sp>
      <p:sp>
        <p:nvSpPr>
          <p:cNvPr id="9" name="Sends the domain to its registry.&#10;3.5 s time">
            <a:extLst xmlns:a="http://schemas.openxmlformats.org/drawingml/2006/main">
              <a:ext uri="{FF2B5EF4-FFF2-40B4-BE49-F238E27FC236}">
                <a16:creationId xmlns:a16="http://schemas.microsoft.com/office/drawing/2014/main" id="{8E17393C-5D82-4EB6-84E0-EF0B40FD0C8F}"/>
              </a:ext>
            </a:extLst>
          </p:cNvPr>
          <p:cNvSpPr>
            <a:spLocks xmlns:a="http://schemas.openxmlformats.org/drawingml/2006/main" noGrp="1"/>
          </p:cNvSpPr>
          <p:nvPr/>
        </p:nvSpPr>
        <p:spPr>
          <a:xfrm xmlns:a="http://schemas.openxmlformats.org/drawingml/2006/main">
            <a:off x="6629400" y="3733800"/>
            <a:ext cx="49720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EEEEE9"/>
                </a:solidFill>
                <a:latin typeface="Inter"/>
                <a:ea typeface="Inter"/>
                <a:cs typeface="Inter"/>
              </a:defRPr>
            </a:defPPr>
          </a:lstStyle>
          <a:p xmlns:a="http://schemas.openxmlformats.org/drawingml/2006/main">
            <a:pPr>
              <a:defRPr sz="1800" b="0">
                <a:solidFill>
                  <a:srgbClr val="EEEEE9"/>
                </a:solidFill>
                <a:latin typeface="Inter"/>
                <a:ea typeface="Inter"/>
                <a:cs typeface="Inter"/>
              </a:defRPr>
            </a:pPr>
            <a:r>
              <a:rPr sz="1800" b="0">
                <a:solidFill>
                  <a:srgbClr val="EEEEE9"/>
                </a:solidFill>
                <a:latin typeface="Inter"/>
                <a:ea typeface="Inter"/>
                <a:cs typeface="Inter"/>
              </a:rPr>
              <a:t>Sends the domain to its registry.</a:t>
            </a:r>
          </a:p>
          <a:p xmlns:a="http://schemas.openxmlformats.org/drawingml/2006/main">
            <a:pPr>
              <a:defRPr sz="1800" b="0">
                <a:solidFill>
                  <a:srgbClr val="EEEEE9"/>
                </a:solidFill>
                <a:latin typeface="Inter"/>
                <a:ea typeface="Inter"/>
                <a:cs typeface="Inter"/>
              </a:defRPr>
            </a:pPr>
            <a:r>
              <a:rPr sz="1800" b="0">
                <a:solidFill>
                  <a:srgbClr val="EEEEE9"/>
                </a:solidFill>
                <a:latin typeface="Inter"/>
                <a:ea typeface="Inter"/>
                <a:cs typeface="Inter"/>
              </a:rPr>
              <a:t>3.5 s timeout. Failure stays unknown.</a:t>
            </a:r>
          </a:p>
        </p:txBody>
      </p:sp>
      <p:sp>
        <p:nvSpPr>
          <p:cNvPr id="10" name="Success cache: 24 h. Failure cache: 1 min.&#10;T">
            <a:extLst xmlns:a="http://schemas.openxmlformats.org/drawingml/2006/main">
              <a:ext uri="{FF2B5EF4-FFF2-40B4-BE49-F238E27FC236}">
                <a16:creationId xmlns:a16="http://schemas.microsoft.com/office/drawing/2014/main" id="{0F59F5FF-34EF-4527-BA9B-A60A123A626F}"/>
              </a:ext>
            </a:extLst>
          </p:cNvPr>
          <p:cNvSpPr>
            <a:spLocks xmlns:a="http://schemas.openxmlformats.org/drawingml/2006/main" noGrp="1"/>
          </p:cNvSpPr>
          <p:nvPr/>
        </p:nvSpPr>
        <p:spPr>
          <a:xfrm xmlns:a="http://schemas.openxmlformats.org/drawingml/2006/main">
            <a:off x="6629400" y="4781550"/>
            <a:ext cx="49720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ADAEAA"/>
                </a:solidFill>
                <a:latin typeface="Inter"/>
                <a:ea typeface="Inter"/>
                <a:cs typeface="Inter"/>
              </a:defRPr>
            </a:defPPr>
          </a:lstStyle>
          <a:p xmlns:a="http://schemas.openxmlformats.org/drawingml/2006/main">
            <a:pPr>
              <a:defRPr sz="1575" b="0">
                <a:solidFill>
                  <a:srgbClr val="ADAEAA"/>
                </a:solidFill>
                <a:latin typeface="Inter"/>
                <a:ea typeface="Inter"/>
                <a:cs typeface="Inter"/>
              </a:defRPr>
            </a:pPr>
            <a:r>
              <a:rPr sz="1575" b="0">
                <a:solidFill>
                  <a:srgbClr val="ADAEAA"/>
                </a:solidFill>
                <a:latin typeface="Inter"/>
                <a:ea typeface="Inter"/>
                <a:cs typeface="Inter"/>
              </a:rPr>
              <a:t>Success cache: 24 h. Failure cache: 1 min.</a:t>
            </a:r>
          </a:p>
          <a:p xmlns:a="http://schemas.openxmlformats.org/drawingml/2006/main">
            <a:pPr>
              <a:defRPr sz="1575" b="0">
                <a:solidFill>
                  <a:srgbClr val="ADAEAA"/>
                </a:solidFill>
                <a:latin typeface="Inter"/>
                <a:ea typeface="Inter"/>
                <a:cs typeface="Inter"/>
              </a:defRPr>
            </a:pPr>
            <a:r>
              <a:rPr sz="1575" b="0">
                <a:solidFill>
                  <a:srgbClr val="ADAEAA"/>
                </a:solidFill>
                <a:latin typeface="Inter"/>
                <a:ea typeface="Inter"/>
                <a:cs typeface="Inter"/>
              </a:rPr>
              <a:t>The registry also sees the network address.</a:t>
            </a:r>
          </a:p>
        </p:txBody>
      </p:sp>
      <p:sp>
        <p:nvSpPr>
          <p:cNvPr id="11" name="No entered values. Embedded frames and scrip">
            <a:extLst xmlns:a="http://schemas.openxmlformats.org/drawingml/2006/main">
              <a:ext uri="{FF2B5EF4-FFF2-40B4-BE49-F238E27FC236}">
                <a16:creationId xmlns:a16="http://schemas.microsoft.com/office/drawing/2014/main" id="{FC7E6E85-2F93-43E0-948A-08739D8CA5A4}"/>
              </a:ext>
            </a:extLst>
          </p:cNvPr>
          <p:cNvSpPr>
            <a:spLocks xmlns:a="http://schemas.openxmlformats.org/drawingml/2006/main" noGrp="1"/>
          </p:cNvSpPr>
          <p:nvPr/>
        </p:nvSpPr>
        <p:spPr>
          <a:xfrm xmlns:a="http://schemas.openxmlformats.org/drawingml/2006/main">
            <a:off x="647700" y="58197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ADAEAA"/>
                </a:solidFill>
                <a:latin typeface="Inter"/>
                <a:ea typeface="Inter"/>
                <a:cs typeface="Inter"/>
              </a:defRPr>
            </a:defPPr>
          </a:lstStyle>
          <a:p xmlns:a="http://schemas.openxmlformats.org/drawingml/2006/main">
            <a:pPr>
              <a:defRPr sz="1500" b="0">
                <a:solidFill>
                  <a:srgbClr val="ADAEAA"/>
                </a:solidFill>
                <a:latin typeface="Inter"/>
                <a:ea typeface="Inter"/>
                <a:cs typeface="Inter"/>
              </a:defRPr>
            </a:pPr>
            <a:r>
              <a:rPr sz="1500" b="0">
                <a:solidFill>
                  <a:srgbClr val="ADAEAA"/>
                </a:solidFill>
                <a:latin typeface="Inter"/>
                <a:ea typeface="Inter"/>
                <a:cs typeface="Inter"/>
              </a:rPr>
              <a:t>No entered values. Embedded frames and script-driven transfers remain unverified.</a:t>
            </a:r>
          </a:p>
        </p:txBody>
      </p:sp>
    </p:spTree>
    <p:extLst>
      <p:ext uri="{BB962C8B-B14F-4D97-AF65-F5344CB8AC3E}">
        <p14:creationId xmlns:p14="http://schemas.microsoft.com/office/powerpoint/2010/main" val="935465326"/>
      </p:ext>
    </p:extLst>
  </p:cSld>
</p:sld>
</file>

<file path=ppt/slides/slide6.xml><?xml version="1.0" encoding="utf-8"?>
<p:sld xmlns:p="http://schemas.openxmlformats.org/presentationml/2006/main">
  <p:cSld>
    <p:bg>
      <p:bgPr>
        <a:solidFill xmlns:a="http://schemas.openxmlformats.org/drawingml/2006/main">
          <a:srgbClr val="191A1B"/>
        </a:solidFill>
      </p:bgPr>
    </p:bg>
    <p:spTree>
      <p:nvGrpSpPr>
        <p:cNvPr id="1" name=""/>
        <p:cNvGrpSpPr/>
        <p:nvPr/>
      </p:nvGrpSpPr>
      <p:grpSpPr>
        <a:xfrm xmlns:a="http://schemas.openxmlformats.org/drawingml/2006/main"/>
      </p:grpSpPr>
      <p:sp>
        <p:nvSpPr>
          <p:cNvPr id="10" name="LIVE DEMONSTRATION">
            <a:extLst xmlns:a="http://schemas.openxmlformats.org/drawingml/2006/main">
              <a:ext uri="{FF2B5EF4-FFF2-40B4-BE49-F238E27FC236}">
                <a16:creationId xmlns:a16="http://schemas.microsoft.com/office/drawing/2014/main" id="{31D11FD3-48F9-4671-943B-5E8B9C1703E9}"/>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ADAEAA"/>
                </a:solidFill>
                <a:latin typeface="Inter"/>
                <a:ea typeface="Inter"/>
                <a:cs typeface="Inter"/>
              </a:defRPr>
            </a:defPPr>
          </a:lstStyle>
          <a:p xmlns:a="http://schemas.openxmlformats.org/drawingml/2006/main">
            <a:pPr>
              <a:defRPr sz="1275" b="0">
                <a:solidFill>
                  <a:srgbClr val="ADAEAA"/>
                </a:solidFill>
                <a:latin typeface="Inter"/>
                <a:ea typeface="Inter"/>
                <a:cs typeface="Inter"/>
              </a:defRPr>
            </a:pPr>
            <a:r>
              <a:rPr sz="1275" b="0">
                <a:solidFill>
                  <a:srgbClr val="ADAEAA"/>
                </a:solidFill>
                <a:latin typeface="Inter"/>
                <a:ea typeface="Inter"/>
                <a:cs typeface="Inter"/>
              </a:rPr>
              <a:t>LIVE DEMONSTRATION</a:t>
            </a:r>
          </a:p>
        </p:txBody>
      </p:sp>
      <p:sp>
        <p:nvSpPr>
          <p:cNvPr id="2" name="meadow">
            <a:extLst xmlns:a="http://schemas.openxmlformats.org/drawingml/2006/main">
              <a:ext uri="{FF2B5EF4-FFF2-40B4-BE49-F238E27FC236}">
                <a16:creationId xmlns:a16="http://schemas.microsoft.com/office/drawing/2014/main" id="{6FCE55D2-B35B-4DC5-8DF6-DF5814F613D6}"/>
              </a:ext>
            </a:extLst>
          </p:cNvPr>
          <p:cNvSpPr>
            <a:spLocks xmlns:a="http://schemas.openxmlformats.org/drawingml/2006/main" noGrp="1"/>
          </p:cNvSpPr>
          <p:nvPr/>
        </p:nvSpPr>
        <p:spPr>
          <a:xfrm xmlns:a="http://schemas.openxmlformats.org/drawingml/2006/main">
            <a:off x="609600" y="63246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ADAEAA"/>
                </a:solidFill>
                <a:latin typeface="Rajdhani"/>
                <a:ea typeface="Rajdhani"/>
                <a:cs typeface="Rajdhani"/>
              </a:defRPr>
            </a:defPPr>
          </a:lstStyle>
          <a:p xmlns:a="http://schemas.openxmlformats.org/drawingml/2006/main">
            <a:pPr>
              <a:defRPr sz="1950" b="1">
                <a:solidFill>
                  <a:srgbClr val="ADAEAA"/>
                </a:solidFill>
                <a:latin typeface="Rajdhani"/>
                <a:ea typeface="Rajdhani"/>
                <a:cs typeface="Rajdhani"/>
              </a:defRPr>
            </a:pPr>
            <a:r>
              <a:rPr sz="1950" b="1">
                <a:solidFill>
                  <a:srgbClr val="ADAEAA"/>
                </a:solidFill>
                <a:latin typeface="Rajdhani"/>
                <a:ea typeface="Rajdhani"/>
                <a:cs typeface="Rajdhani"/>
              </a:rPr>
              <a:t>meadow</a:t>
            </a:r>
          </a:p>
        </p:txBody>
      </p:sp>
      <p:sp>
        <p:nvSpPr>
          <p:cNvPr id="3" name="06 / 06">
            <a:extLst xmlns:a="http://schemas.openxmlformats.org/drawingml/2006/main">
              <a:ext uri="{FF2B5EF4-FFF2-40B4-BE49-F238E27FC236}">
                <a16:creationId xmlns:a16="http://schemas.microsoft.com/office/drawing/2014/main" id="{B03654DD-6A11-4337-B55F-36D24C6221F3}"/>
              </a:ext>
            </a:extLst>
          </p:cNvPr>
          <p:cNvSpPr>
            <a:spLocks xmlns:a="http://schemas.openxmlformats.org/drawingml/2006/main" noGrp="1"/>
          </p:cNvSpPr>
          <p:nvPr/>
        </p:nvSpPr>
        <p:spPr>
          <a:xfrm xmlns:a="http://schemas.openxmlformats.org/drawingml/2006/main">
            <a:off x="10763250" y="63817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ADAEAA"/>
                </a:solidFill>
                <a:latin typeface="Inter"/>
                <a:ea typeface="Inter"/>
                <a:cs typeface="Inter"/>
              </a:defRPr>
            </a:defPPr>
          </a:lstStyle>
          <a:p xmlns:a="http://schemas.openxmlformats.org/drawingml/2006/main">
            <a:pPr>
              <a:defRPr sz="1200" b="0">
                <a:solidFill>
                  <a:srgbClr val="ADAEAA"/>
                </a:solidFill>
                <a:latin typeface="Inter"/>
                <a:ea typeface="Inter"/>
                <a:cs typeface="Inter"/>
              </a:defRPr>
            </a:pPr>
            <a:r>
              <a:rPr sz="1200" b="0">
                <a:solidFill>
                  <a:srgbClr val="ADAEAA"/>
                </a:solidFill>
                <a:latin typeface="Inter"/>
                <a:ea typeface="Inter"/>
                <a:cs typeface="Inter"/>
              </a:rPr>
              <a:t>06 / 06</a:t>
            </a:r>
          </a:p>
        </p:txBody>
      </p:sp>
      <p:sp>
        <p:nvSpPr>
          <p:cNvPr id="4" name="Can the warning arrive&#10;before details are en">
            <a:extLst xmlns:a="http://schemas.openxmlformats.org/drawingml/2006/main">
              <a:ext uri="{FF2B5EF4-FFF2-40B4-BE49-F238E27FC236}">
                <a16:creationId xmlns:a16="http://schemas.microsoft.com/office/drawing/2014/main" id="{BF281E98-BF0B-452D-9F72-A11294D144A5}"/>
              </a:ext>
            </a:extLst>
          </p:cNvPr>
          <p:cNvSpPr>
            <a:spLocks xmlns:a="http://schemas.openxmlformats.org/drawingml/2006/main" noGrp="1"/>
          </p:cNvSpPr>
          <p:nvPr/>
        </p:nvSpPr>
        <p:spPr>
          <a:xfrm xmlns:a="http://schemas.openxmlformats.org/drawingml/2006/main">
            <a:off x="609600" y="1028700"/>
            <a:ext cx="1095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250" b="1">
                <a:solidFill>
                  <a:srgbClr val="EEEEE9"/>
                </a:solidFill>
                <a:latin typeface="Rajdhani"/>
                <a:ea typeface="Rajdhani"/>
                <a:cs typeface="Rajdhani"/>
              </a:defRPr>
            </a:defPPr>
          </a:lstStyle>
          <a:p xmlns:a="http://schemas.openxmlformats.org/drawingml/2006/main">
            <a:pPr>
              <a:defRPr sz="5250" b="1">
                <a:solidFill>
                  <a:srgbClr val="EEEEE9"/>
                </a:solidFill>
                <a:latin typeface="Rajdhani"/>
                <a:ea typeface="Rajdhani"/>
                <a:cs typeface="Rajdhani"/>
              </a:defRPr>
            </a:pPr>
            <a:r>
              <a:rPr sz="5250" b="1">
                <a:solidFill>
                  <a:srgbClr val="EEEEE9"/>
                </a:solidFill>
                <a:latin typeface="Rajdhani"/>
                <a:ea typeface="Rajdhani"/>
                <a:cs typeface="Rajdhani"/>
              </a:rPr>
              <a:t>Can the warning arrive</a:t>
            </a:r>
          </a:p>
          <a:p xmlns:a="http://schemas.openxmlformats.org/drawingml/2006/main">
            <a:pPr>
              <a:defRPr sz="5250" b="1">
                <a:solidFill>
                  <a:srgbClr val="EEEEE9"/>
                </a:solidFill>
                <a:latin typeface="Rajdhani"/>
                <a:ea typeface="Rajdhani"/>
                <a:cs typeface="Rajdhani"/>
              </a:defRPr>
            </a:pPr>
            <a:r>
              <a:rPr sz="5250" b="1">
                <a:solidFill>
                  <a:srgbClr val="EEEEE9"/>
                </a:solidFill>
                <a:latin typeface="Rajdhani"/>
                <a:ea typeface="Rajdhani"/>
                <a:cs typeface="Rajdhani"/>
              </a:rPr>
              <a:t>before details are entered?</a:t>
            </a:r>
          </a:p>
        </p:txBody>
      </p:sp>
      <p:sp>
        <p:nvSpPr>
          <p:cNvPr id="5" name="Unsafe checkout">
            <a:extLst xmlns:a="http://schemas.openxmlformats.org/drawingml/2006/main">
              <a:ext uri="{FF2B5EF4-FFF2-40B4-BE49-F238E27FC236}">
                <a16:creationId xmlns:a16="http://schemas.microsoft.com/office/drawing/2014/main" id="{B73A985F-862C-4289-9B62-D617FE9EB645}"/>
              </a:ext>
            </a:extLst>
          </p:cNvPr>
          <p:cNvSpPr>
            <a:spLocks xmlns:a="http://schemas.openxmlformats.org/drawingml/2006/main" noGrp="1"/>
          </p:cNvSpPr>
          <p:nvPr/>
        </p:nvSpPr>
        <p:spPr>
          <a:xfrm xmlns:a="http://schemas.openxmlformats.org/drawingml/2006/main">
            <a:off x="638175" y="3371850"/>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00" b="1">
                <a:solidFill>
                  <a:srgbClr val="EEEEE9"/>
                </a:solidFill>
                <a:latin typeface="Rajdhani"/>
                <a:ea typeface="Rajdhani"/>
                <a:cs typeface="Rajdhani"/>
              </a:defRPr>
            </a:defPPr>
          </a:lstStyle>
          <a:p xmlns:a="http://schemas.openxmlformats.org/drawingml/2006/main">
            <a:pPr>
              <a:defRPr sz="3300" b="1">
                <a:solidFill>
                  <a:srgbClr val="EEEEE9"/>
                </a:solidFill>
                <a:latin typeface="Rajdhani"/>
                <a:ea typeface="Rajdhani"/>
                <a:cs typeface="Rajdhani"/>
              </a:defRPr>
            </a:pPr>
            <a:r>
              <a:rPr sz="3300" b="1">
                <a:solidFill>
                  <a:srgbClr val="EEEEE9"/>
                </a:solidFill>
                <a:latin typeface="Rajdhani"/>
                <a:ea typeface="Rajdhani"/>
                <a:cs typeface="Rajdhani"/>
              </a:rPr>
              <a:t>Unsafe checkout</a:t>
            </a:r>
          </a:p>
        </p:txBody>
      </p:sp>
      <p:sp>
        <p:nvSpPr>
          <p:cNvPr id="6" name="Reveal a sensitive form on HTTP.&#10;Watch the w">
            <a:extLst xmlns:a="http://schemas.openxmlformats.org/drawingml/2006/main">
              <a:ext uri="{FF2B5EF4-FFF2-40B4-BE49-F238E27FC236}">
                <a16:creationId xmlns:a16="http://schemas.microsoft.com/office/drawing/2014/main" id="{89EB8057-DF94-4FBE-9A16-1A6133064482}"/>
              </a:ext>
            </a:extLst>
          </p:cNvPr>
          <p:cNvSpPr>
            <a:spLocks xmlns:a="http://schemas.openxmlformats.org/drawingml/2006/main" noGrp="1"/>
          </p:cNvSpPr>
          <p:nvPr/>
        </p:nvSpPr>
        <p:spPr>
          <a:xfrm xmlns:a="http://schemas.openxmlformats.org/drawingml/2006/main">
            <a:off x="657225" y="4105275"/>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ADAEAA"/>
                </a:solidFill>
                <a:latin typeface="Inter"/>
                <a:ea typeface="Inter"/>
                <a:cs typeface="Inter"/>
              </a:defRPr>
            </a:defPPr>
          </a:lstStyle>
          <a:p xmlns:a="http://schemas.openxmlformats.org/drawingml/2006/main">
            <a:pPr>
              <a:defRPr sz="1875" b="0">
                <a:solidFill>
                  <a:srgbClr val="ADAEAA"/>
                </a:solidFill>
                <a:latin typeface="Inter"/>
                <a:ea typeface="Inter"/>
                <a:cs typeface="Inter"/>
              </a:defRPr>
            </a:pPr>
            <a:r>
              <a:rPr sz="1875" b="0">
                <a:solidFill>
                  <a:srgbClr val="ADAEAA"/>
                </a:solidFill>
                <a:latin typeface="Inter"/>
                <a:ea typeface="Inter"/>
                <a:cs typeface="Inter"/>
              </a:rPr>
              <a:t>Reveal a sensitive form on HTTP.</a:t>
            </a:r>
          </a:p>
          <a:p xmlns:a="http://schemas.openxmlformats.org/drawingml/2006/main">
            <a:pPr>
              <a:defRPr sz="1875" b="0">
                <a:solidFill>
                  <a:srgbClr val="ADAEAA"/>
                </a:solidFill>
                <a:latin typeface="Inter"/>
                <a:ea typeface="Inter"/>
                <a:cs typeface="Inter"/>
              </a:defRPr>
            </a:pPr>
            <a:r>
              <a:rPr sz="1875" b="0">
                <a:solidFill>
                  <a:srgbClr val="ADAEAA"/>
                </a:solidFill>
                <a:latin typeface="Inter"/>
                <a:ea typeface="Inter"/>
                <a:cs typeface="Inter"/>
              </a:rPr>
              <a:t>Watch the warning become stronger.</a:t>
            </a:r>
          </a:p>
        </p:txBody>
      </p:sp>
      <p:sp>
        <p:nvSpPr>
          <p:cNvPr id="7" name="A new independent shop">
            <a:extLst xmlns:a="http://schemas.openxmlformats.org/drawingml/2006/main">
              <a:ext uri="{FF2B5EF4-FFF2-40B4-BE49-F238E27FC236}">
                <a16:creationId xmlns:a16="http://schemas.microsoft.com/office/drawing/2014/main" id="{732935DE-1253-43A9-89BB-8F23DC2C40F0}"/>
              </a:ext>
            </a:extLst>
          </p:cNvPr>
          <p:cNvSpPr>
            <a:spLocks xmlns:a="http://schemas.openxmlformats.org/drawingml/2006/main" noGrp="1"/>
          </p:cNvSpPr>
          <p:nvPr/>
        </p:nvSpPr>
        <p:spPr>
          <a:xfrm xmlns:a="http://schemas.openxmlformats.org/drawingml/2006/main">
            <a:off x="6477000" y="33718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000" b="1">
                <a:solidFill>
                  <a:srgbClr val="EEEEE9"/>
                </a:solidFill>
                <a:latin typeface="Rajdhani"/>
                <a:ea typeface="Rajdhani"/>
                <a:cs typeface="Rajdhani"/>
              </a:defRPr>
            </a:defPPr>
          </a:lstStyle>
          <a:p xmlns:a="http://schemas.openxmlformats.org/drawingml/2006/main">
            <a:pPr>
              <a:defRPr sz="3000" b="1">
                <a:solidFill>
                  <a:srgbClr val="EEEEE9"/>
                </a:solidFill>
                <a:latin typeface="Rajdhani"/>
                <a:ea typeface="Rajdhani"/>
                <a:cs typeface="Rajdhani"/>
              </a:defRPr>
            </a:pPr>
            <a:r>
              <a:rPr sz="3000" b="1">
                <a:solidFill>
                  <a:srgbClr val="EEEEE9"/>
                </a:solidFill>
                <a:latin typeface="Rajdhani"/>
                <a:ea typeface="Rajdhani"/>
                <a:cs typeface="Rajdhani"/>
              </a:rPr>
              <a:t>A new independent shop</a:t>
            </a:r>
          </a:p>
        </p:txBody>
      </p:sp>
      <p:sp>
        <p:nvSpPr>
          <p:cNvPr id="8" name="Check whether newness alone&#10;triggers a high-">
            <a:extLst xmlns:a="http://schemas.openxmlformats.org/drawingml/2006/main">
              <a:ext uri="{FF2B5EF4-FFF2-40B4-BE49-F238E27FC236}">
                <a16:creationId xmlns:a16="http://schemas.microsoft.com/office/drawing/2014/main" id="{17774BB7-5605-4C69-849B-96A8C64B1038}"/>
              </a:ext>
            </a:extLst>
          </p:cNvPr>
          <p:cNvSpPr>
            <a:spLocks xmlns:a="http://schemas.openxmlformats.org/drawingml/2006/main" noGrp="1"/>
          </p:cNvSpPr>
          <p:nvPr/>
        </p:nvSpPr>
        <p:spPr>
          <a:xfrm xmlns:a="http://schemas.openxmlformats.org/drawingml/2006/main">
            <a:off x="6496050" y="4105275"/>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ADAEAA"/>
                </a:solidFill>
                <a:latin typeface="Inter"/>
                <a:ea typeface="Inter"/>
                <a:cs typeface="Inter"/>
              </a:defRPr>
            </a:defPPr>
          </a:lstStyle>
          <a:p xmlns:a="http://schemas.openxmlformats.org/drawingml/2006/main">
            <a:pPr>
              <a:defRPr sz="1875" b="0">
                <a:solidFill>
                  <a:srgbClr val="ADAEAA"/>
                </a:solidFill>
                <a:latin typeface="Inter"/>
                <a:ea typeface="Inter"/>
                <a:cs typeface="Inter"/>
              </a:defRPr>
            </a:pPr>
            <a:r>
              <a:rPr sz="1875" b="0">
                <a:solidFill>
                  <a:srgbClr val="ADAEAA"/>
                </a:solidFill>
                <a:latin typeface="Inter"/>
                <a:ea typeface="Inter"/>
                <a:cs typeface="Inter"/>
              </a:rPr>
              <a:t>Check whether newness alone</a:t>
            </a:r>
          </a:p>
          <a:p xmlns:a="http://schemas.openxmlformats.org/drawingml/2006/main">
            <a:pPr>
              <a:defRPr sz="1875" b="0">
                <a:solidFill>
                  <a:srgbClr val="ADAEAA"/>
                </a:solidFill>
                <a:latin typeface="Inter"/>
                <a:ea typeface="Inter"/>
                <a:cs typeface="Inter"/>
              </a:defRPr>
            </a:pPr>
            <a:r>
              <a:rPr sz="1875" b="0">
                <a:solidFill>
                  <a:srgbClr val="ADAEAA"/>
                </a:solidFill>
                <a:latin typeface="Inter"/>
                <a:ea typeface="Inter"/>
                <a:cs typeface="Inter"/>
              </a:rPr>
              <a:t>triggers a high-risk warning.</a:t>
            </a:r>
          </a:p>
        </p:txBody>
      </p:sp>
      <p:sp>
        <p:nvSpPr>
          <p:cNvPr id="9" name="First-pass screening cannot prove legitimacy">
            <a:extLst xmlns:a="http://schemas.openxmlformats.org/drawingml/2006/main">
              <a:ext uri="{FF2B5EF4-FFF2-40B4-BE49-F238E27FC236}">
                <a16:creationId xmlns:a16="http://schemas.microsoft.com/office/drawing/2014/main" id="{E0114301-4608-4F9A-88D2-03BD7254265E}"/>
              </a:ext>
            </a:extLst>
          </p:cNvPr>
          <p:cNvSpPr>
            <a:spLocks xmlns:a="http://schemas.openxmlformats.org/drawingml/2006/main" noGrp="1"/>
          </p:cNvSpPr>
          <p:nvPr/>
        </p:nvSpPr>
        <p:spPr>
          <a:xfrm xmlns:a="http://schemas.openxmlformats.org/drawingml/2006/main">
            <a:off x="647700" y="56388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EEEEE9"/>
                </a:solidFill>
                <a:latin typeface="Inter"/>
                <a:ea typeface="Inter"/>
                <a:cs typeface="Inter"/>
              </a:defRPr>
            </a:defPPr>
          </a:lstStyle>
          <a:p xmlns:a="http://schemas.openxmlformats.org/drawingml/2006/main">
            <a:pPr>
              <a:defRPr sz="1725" b="0">
                <a:solidFill>
                  <a:srgbClr val="EEEEE9"/>
                </a:solidFill>
                <a:latin typeface="Inter"/>
                <a:ea typeface="Inter"/>
                <a:cs typeface="Inter"/>
              </a:defRPr>
            </a:pPr>
            <a:r>
              <a:rPr sz="1725" b="0">
                <a:solidFill>
                  <a:srgbClr val="EEEEE9"/>
                </a:solidFill>
                <a:latin typeface="Inter"/>
                <a:ea typeface="Inter"/>
                <a:cs typeface="Inter"/>
              </a:rPr>
              <a:t>First-pass screening cannot prove legitimacy or guarantee delivery.</a:t>
            </a:r>
          </a:p>
        </p:txBody>
      </p:sp>
    </p:spTree>
    <p:extLst>
      <p:ext uri="{BB962C8B-B14F-4D97-AF65-F5344CB8AC3E}">
        <p14:creationId xmlns:p14="http://schemas.microsoft.com/office/powerpoint/2010/main" val="160171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2026-10-08T08:40:50.0200000Z</dcterms:created>
  <dcterms:modified xsi:type="dcterms:W3CDTF">2026-10-08T08:40:50.0200000Z</dcterms:modified>
</coreProperties>
</file>