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21a4e44977478c" /><Relationship Type="http://schemas.openxmlformats.org/officeDocument/2006/relationships/extended-properties" Target="/docProps/app.xml" Id="Rf700ef05a01b454c" /><Relationship Type="http://schemas.openxmlformats.org/officeDocument/2006/relationships/officeDocument" Target="/ppt/presentation.xml" Id="R91dea1d2aa9444e7" /></Relationships>
</file>

<file path=ppt/presentation.xml><?xml version="1.0" encoding="utf-8"?>
<p:presentation xmlns:p="http://schemas.openxmlformats.org/presentationml/2006/main">
  <p:sldMasterIdLst>
    <p:sldMasterId xmlns:r="http://schemas.openxmlformats.org/officeDocument/2006/relationships" id="2147483648" r:id="R1f2c1b6186e84af7"/>
  </p:sldMasterIdLst>
  <p:notesMasterIdLst>
    <p:notesMasterId xmlns:r="http://schemas.openxmlformats.org/officeDocument/2006/relationships" r:id="Rad06cd70cbcb4ac1"/>
  </p:notesMasterIdLst>
  <p:sldIdLst>
    <p:sldId xmlns:r="http://schemas.openxmlformats.org/officeDocument/2006/relationships" id="256" r:id="R89b6007377384ce8"/>
    <p:sldId xmlns:r="http://schemas.openxmlformats.org/officeDocument/2006/relationships" id="257" r:id="R0912f517e7de4dba"/>
    <p:sldId xmlns:r="http://schemas.openxmlformats.org/officeDocument/2006/relationships" id="258" r:id="R3f7f3f8ae32e41a1"/>
    <p:sldId xmlns:r="http://schemas.openxmlformats.org/officeDocument/2006/relationships" id="259" r:id="R6df909eda9634dfd"/>
    <p:sldId xmlns:r="http://schemas.openxmlformats.org/officeDocument/2006/relationships" id="260" r:id="Rfe2ce031976346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de8f8431a844f4" /><Relationship Type="http://schemas.openxmlformats.org/officeDocument/2006/relationships/slideMaster" Target="/ppt/slideMasters/slideMaster1.xml" Id="R1f2c1b6186e84af7" /><Relationship Type="http://schemas.openxmlformats.org/officeDocument/2006/relationships/notesMaster" Target="/ppt/notesMasters/notesMaster1.xml" Id="Rad06cd70cbcb4ac1" /><Relationship Type="http://schemas.openxmlformats.org/officeDocument/2006/relationships/presProps" Target="/ppt/presProps.xml" Id="R0fd2340661bf4fd8" /><Relationship Type="http://schemas.openxmlformats.org/officeDocument/2006/relationships/tableStyles" Target="/ppt/tableStyles.xml" Id="R96f055a9ed294fa6" /><Relationship Type="http://schemas.openxmlformats.org/officeDocument/2006/relationships/slide" Target="/ppt/slides/slide1.xml" Id="R89b6007377384ce8" /><Relationship Type="http://schemas.openxmlformats.org/officeDocument/2006/relationships/slide" Target="/ppt/slides/slide2.xml" Id="R0912f517e7de4dba" /><Relationship Type="http://schemas.openxmlformats.org/officeDocument/2006/relationships/slide" Target="/ppt/slides/slide3.xml" Id="R3f7f3f8ae32e41a1" /><Relationship Type="http://schemas.openxmlformats.org/officeDocument/2006/relationships/slide" Target="/ppt/slides/slide4.xml" Id="R6df909eda9634dfd" /><Relationship Type="http://schemas.openxmlformats.org/officeDocument/2006/relationships/slide" Target="/ppt/slides/slide5.xml" Id="Rfe2ce031976346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455fab02c44c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5fdaedaaf74255" /><Relationship Type="http://schemas.openxmlformats.org/officeDocument/2006/relationships/notesMaster" Target="/ppt/notesMasters/notesMaster1.xml" Id="Rd7812e5ad6a54d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b6c785de744c88" /><Relationship Type="http://schemas.openxmlformats.org/officeDocument/2006/relationships/notesMaster" Target="/ppt/notesMasters/notesMaster1.xml" Id="Raf16d62fcbc04f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543878543e47f0" /><Relationship Type="http://schemas.openxmlformats.org/officeDocument/2006/relationships/notesMaster" Target="/ppt/notesMasters/notesMaster1.xml" Id="R413b1e580b8b41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d309ec3af84c98" /><Relationship Type="http://schemas.openxmlformats.org/officeDocument/2006/relationships/notesMaster" Target="/ppt/notesMasters/notesMaster1.xml" Id="R5c58e4bfc136482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4f9907dc8c48aa" /><Relationship Type="http://schemas.openxmlformats.org/officeDocument/2006/relationships/notesMaster" Target="/ppt/notesMasters/notesMaster1.xml" Id="R7b30a38ff21541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Ask: “Would you buy from this store?” Pause briefly. “The design looks considered. But appearance tells us little about who controls the address or how the checkout handles sensitive information. Meadow gives the shopper a first check, inside the browser.” This screenshot shows our local demonstration store, not a real incident. Source: Meadow demo/public/store.html and tests/browser.mjs screenshot storefront-before.png, captured 8 October 2026. Do not claim that design proves fraud.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0:30–1:10. “Here is a concrete reason to stop: the page displays sensitive fields over HTTP. Meadow does not need a model to recognize that condition. It reports the actual evidence and asks the person to pause before entering details. High risk describes what we observed. It does not prove who runs the store.” Source: extension/engine.js critical http-sensitive rule, extension/render.js, high-risk-summary.png captured from the built extension after the live checkout test. Local registration data is simulated. The HTTP form and DOM inspection are real. All inputs are disabled and no payment happens.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1:10–1:45. “Meadow checks the current page automatically. You open the toolbar popup for the reasons. We combine existing methods: domain parsing, a small brand catalogue, registration information and observable page checks. The design contribution is putting those checks in one readable, cautious workflow. We do not claim a new fraud detection algorithm. Weak clues such as a young domain alone do not justify a high-risk verdict.” RDAP registration lookup is optional and sends the domain plus network address to the registry. The rule engine and page inspection run locally. Source: extension/domain.js, data.js, registration.js, engine.js, inspect.js, content.js, popup.js. Screenshot is the actual evidence section of the extension, not a mockup.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1:45–2:00 setup, 2:00–4:00 live demo. “We will inspect a controlled store, reveal its checkout, and watch the evidence change. Then we will test a new independent shop.” Switch to Chrome at http://checkout-store.localhost:8765. Before clicking checkout, open the pinned Meadow Demo Lab extension and show REVIEW. Close popup. Click Proceed to checkout. Wait for the badge to change to !, open popup, show HIGH RISK and expand Connection &amp; forms. Explain HTTP plus sensitive fields. Switch to http://new-store.localhost:8765, show REVIEW, open Registration age. Newness alone is not a fraud accusation. Both pages are labelled simulations. Age is a local fixture; all other checks inspect actual DOM. Main demo needs only local server, no external network. Projection preview belongs to the page and uses the same engine; always identify it as a preview and use the real toolbar popup at least once. Sources: demo/lab.js, demo-fixtures.js and current browser tests. Fallback: show saved screenshots in assets, explicitly call them screenshots rather than a live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4:00–4:45 close. “The value is a visible reason to reconsider before entering details. A simple interface exposes concrete checks, without asking the shopper to become an investigator. Meadow is a first test for an unfamiliar store. It cannot establish that a seller is genuine or will deliver an order. Our controlled tests show the implemented behaviour, not a real-world detection accuracy rate. The contribution is the careful packaging: actual domain, readable evidence, conservative decisions and a repeatable demo.” Leave 15 seconds as a switching buffer. No statistics about fraud prevalence or accuracy are asserted. Source: current project code, evaluation/BRANDING-REVIEW.md and project coverage disclosures.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794ee564ea4a2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9a2af8ad0ed468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ee03ffb9c0445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487a1d74e742c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5c8b1b37eb844c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efc2450e1946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BAE050-C383-4AF9-A488-EB733025850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A39C0EA-2233-4B7A-9E08-C44B0FD42EB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94B5F27-D612-49CC-B879-A007A38CB5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40FAF5-5B6C-41DB-B55C-FA613DB4BA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06DA80B-2F56-45D8-8551-24063D0DC88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659E05F-7B12-4F17-A4DD-B206F6BCE1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E208EE-9DC2-4387-BF32-BF03B03810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55CAB02-D32E-49A0-AB01-E644BAF8665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DA3D49-F6BE-4DB0-91F0-346CAF2408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D31A531-F0AC-400C-B437-3967EBF2EE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7ca4902b51481a" /><Relationship Type="http://schemas.openxmlformats.org/officeDocument/2006/relationships/slideLayout" Target="/ppt/slideLayouts/slideLayout1.xml" Id="R8fbd58ccfffb49e8" /><Relationship Type="http://schemas.openxmlformats.org/officeDocument/2006/relationships/slideLayout" Target="/ppt/slideLayouts/slideLayout2.xml" Id="Rc82414938f464bda" /><Relationship Type="http://schemas.openxmlformats.org/officeDocument/2006/relationships/slideLayout" Target="/ppt/slideLayouts/slideLayout3.xml" Id="Re456a4eff42f476f" /><Relationship Type="http://schemas.openxmlformats.org/officeDocument/2006/relationships/slideLayout" Target="/ppt/slideLayouts/slideLayout4.xml" Id="Rfe301774374d424b" /><Relationship Type="http://schemas.openxmlformats.org/officeDocument/2006/relationships/slideLayout" Target="/ppt/slideLayouts/slideLayout5.xml" Id="Rc83d12e1293149d5" /><Relationship Type="http://schemas.openxmlformats.org/officeDocument/2006/relationships/slideLayout" Target="/ppt/slideLayouts/slideLayout6.xml" Id="R8682922647c64f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bd58ccfffb49e8"/>
    <p:sldLayoutId xmlns:r="http://schemas.openxmlformats.org/officeDocument/2006/relationships" id="2147483650" r:id="Rc82414938f464bda"/>
    <p:sldLayoutId xmlns:r="http://schemas.openxmlformats.org/officeDocument/2006/relationships" id="2147483651" r:id="Re456a4eff42f476f"/>
    <p:sldLayoutId xmlns:r="http://schemas.openxmlformats.org/officeDocument/2006/relationships" id="2147483652" r:id="Rfe301774374d424b"/>
    <p:sldLayoutId xmlns:r="http://schemas.openxmlformats.org/officeDocument/2006/relationships" id="2147483653" r:id="Rc83d12e1293149d5"/>
    <p:sldLayoutId xmlns:r="http://schemas.openxmlformats.org/officeDocument/2006/relationships" id="2147483654" r:id="R8682922647c64f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578581144c44aaa" /><Relationship Type="http://schemas.openxmlformats.org/officeDocument/2006/relationships/image" Target="/ppt/media/image.png" Id="R352a8a4fadad4f1e" /><Relationship Type="http://schemas.openxmlformats.org/officeDocument/2006/relationships/notesSlide" Target="/ppt/notesSlides/notesSlide1.xml" Id="Rcf034be1e2be4c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e3d8aaebdea4a21" /><Relationship Type="http://schemas.openxmlformats.org/officeDocument/2006/relationships/image" Target="/ppt/media/image2.png" Id="R99fef61131d84732" /><Relationship Type="http://schemas.openxmlformats.org/officeDocument/2006/relationships/notesSlide" Target="/ppt/notesSlides/notesSlide2.xml" Id="R4f0a7965224e42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134f55615184362" /><Relationship Type="http://schemas.openxmlformats.org/officeDocument/2006/relationships/image" Target="/ppt/media/image3.png" Id="R9e21bbec94b14297" /><Relationship Type="http://schemas.openxmlformats.org/officeDocument/2006/relationships/notesSlide" Target="/ppt/notesSlides/notesSlide3.xml" Id="R6be9ffc3f32741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cfc7e579d734d49" /><Relationship Type="http://schemas.openxmlformats.org/officeDocument/2006/relationships/notesSlide" Target="/ppt/notesSlides/notesSlide4.xml" Id="Rbd18655e6cdb4d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a3c3e021f304051" /><Relationship Type="http://schemas.openxmlformats.org/officeDocument/2006/relationships/notesSlide" Target="/ppt/notesSlides/notesSlide5.xml" Id="Rb746c8e514344a32" /></Relationships>
</file>

<file path=ppt/slides/slide1.xml><?xml version="1.0" encoding="utf-8"?>
<p:sld xmlns:p="http://schemas.openxmlformats.org/presentationml/2006/main">
  <p:cSld>
    <p:bg>
      <p:bgPr>
        <a:solidFill xmlns:a="http://schemas.openxmlformats.org/drawingml/2006/main">
          <a:srgbClr val="191A1B"/>
        </a:solidFill>
      </p:bgPr>
    </p:bg>
    <p:spTree>
      <p:nvGrpSpPr>
        <p:cNvPr id="1" name=""/>
        <p:cNvGrpSpPr/>
        <p:nvPr/>
      </p:nvGrpSpPr>
      <p:grpSpPr>
        <a:xfrm xmlns:a="http://schemas.openxmlformats.org/drawingml/2006/main"/>
      </p:grpSpPr>
      <p:sp>
        <p:nvSpPr>
          <p:cNvPr id="7" name="meadow">
            <a:extLst xmlns:a="http://schemas.openxmlformats.org/drawingml/2006/main">
              <a:ext uri="{FF2B5EF4-FFF2-40B4-BE49-F238E27FC236}">
                <a16:creationId xmlns:a16="http://schemas.microsoft.com/office/drawing/2014/main" id="{DBA95F53-0DEC-4F19-9C4A-8D28CACB7B17}"/>
              </a:ext>
            </a:extLst>
          </p:cNvPr>
          <p:cNvSpPr>
            <a:spLocks xmlns:a="http://schemas.openxmlformats.org/drawingml/2006/main" noGrp="1"/>
          </p:cNvSpPr>
          <p:nvPr/>
        </p:nvSpPr>
        <p:spPr>
          <a:xfrm xmlns:a="http://schemas.openxmlformats.org/drawingml/2006/main">
            <a:off x="609600" y="3429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EEEEE9"/>
                </a:solidFill>
                <a:latin typeface="Rajdhani"/>
                <a:ea typeface="Rajdhani"/>
                <a:cs typeface="Rajdhani"/>
              </a:defRPr>
            </a:defPPr>
          </a:lstStyle>
          <a:p xmlns:a="http://schemas.openxmlformats.org/drawingml/2006/main">
            <a:pPr>
              <a:defRPr sz="2400" b="1">
                <a:solidFill>
                  <a:srgbClr val="EEEEE9"/>
                </a:solidFill>
                <a:latin typeface="Rajdhani"/>
                <a:ea typeface="Rajdhani"/>
                <a:cs typeface="Rajdhani"/>
              </a:defRPr>
            </a:pPr>
            <a:r>
              <a:rPr sz="2400" b="1">
                <a:solidFill>
                  <a:srgbClr val="EEEEE9"/>
                </a:solidFill>
                <a:latin typeface="Rajdhani"/>
                <a:ea typeface="Rajdhani"/>
                <a:cs typeface="Rajdhani"/>
              </a:rPr>
              <a:t>meadow</a:t>
            </a:r>
          </a:p>
        </p:txBody>
      </p:sp>
      <p:sp>
        <p:nvSpPr>
          <p:cNvPr id="2" name="01 / 05">
            <a:extLst xmlns:a="http://schemas.openxmlformats.org/drawingml/2006/main">
              <a:ext uri="{FF2B5EF4-FFF2-40B4-BE49-F238E27FC236}">
                <a16:creationId xmlns:a16="http://schemas.microsoft.com/office/drawing/2014/main" id="{123B5F61-29D5-4603-A977-66BA8FB8EFE4}"/>
              </a:ext>
            </a:extLst>
          </p:cNvPr>
          <p:cNvSpPr>
            <a:spLocks xmlns:a="http://schemas.openxmlformats.org/drawingml/2006/main" noGrp="1"/>
          </p:cNvSpPr>
          <p:nvPr/>
        </p:nvSpPr>
        <p:spPr>
          <a:xfrm xmlns:a="http://schemas.openxmlformats.org/drawingml/2006/main">
            <a:off x="10810875" y="4572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0">
                <a:solidFill>
                  <a:srgbClr val="ADAEAA"/>
                </a:solidFill>
                <a:latin typeface="Inter"/>
                <a:ea typeface="Inter"/>
                <a:cs typeface="Inter"/>
              </a:defRPr>
            </a:defPPr>
          </a:lstStyle>
          <a:p xmlns:a="http://schemas.openxmlformats.org/drawingml/2006/main">
            <a:pPr>
              <a:defRPr sz="1125" b="0">
                <a:solidFill>
                  <a:srgbClr val="ADAEAA"/>
                </a:solidFill>
                <a:latin typeface="Inter"/>
                <a:ea typeface="Inter"/>
                <a:cs typeface="Inter"/>
              </a:defRPr>
            </a:pPr>
            <a:r>
              <a:rPr sz="1125" b="0">
                <a:solidFill>
                  <a:srgbClr val="ADAEAA"/>
                </a:solidFill>
                <a:latin typeface="Inter"/>
                <a:ea typeface="Inter"/>
                <a:cs typeface="Inter"/>
              </a:rPr>
              <a:t>01 / 05</a:t>
            </a:r>
          </a:p>
        </p:txBody>
      </p:sp>
      <p:sp>
        <p:nvSpPr>
          <p:cNvPr id="3" name="Would you buy&#10;from this store?">
            <a:extLst xmlns:a="http://schemas.openxmlformats.org/drawingml/2006/main">
              <a:ext uri="{FF2B5EF4-FFF2-40B4-BE49-F238E27FC236}">
                <a16:creationId xmlns:a16="http://schemas.microsoft.com/office/drawing/2014/main" id="{09D6C4D5-474C-44D8-A77B-738FDC0F432C}"/>
              </a:ext>
            </a:extLst>
          </p:cNvPr>
          <p:cNvSpPr>
            <a:spLocks xmlns:a="http://schemas.openxmlformats.org/drawingml/2006/main" noGrp="1"/>
          </p:cNvSpPr>
          <p:nvPr/>
        </p:nvSpPr>
        <p:spPr>
          <a:xfrm xmlns:a="http://schemas.openxmlformats.org/drawingml/2006/main">
            <a:off x="609600" y="1666875"/>
            <a:ext cx="50958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100" b="1">
                <a:solidFill>
                  <a:srgbClr val="EEEEE9"/>
                </a:solidFill>
                <a:latin typeface="Rajdhani"/>
                <a:ea typeface="Rajdhani"/>
                <a:cs typeface="Rajdhani"/>
              </a:defRPr>
            </a:defPPr>
          </a:lstStyle>
          <a:p xmlns:a="http://schemas.openxmlformats.org/drawingml/2006/main">
            <a:pPr>
              <a:defRPr sz="5100" b="1">
                <a:solidFill>
                  <a:srgbClr val="EEEEE9"/>
                </a:solidFill>
                <a:latin typeface="Rajdhani"/>
                <a:ea typeface="Rajdhani"/>
                <a:cs typeface="Rajdhani"/>
              </a:defRPr>
            </a:pPr>
            <a:r>
              <a:rPr sz="5100" b="1">
                <a:solidFill>
                  <a:srgbClr val="EEEEE9"/>
                </a:solidFill>
                <a:latin typeface="Rajdhani"/>
                <a:ea typeface="Rajdhani"/>
                <a:cs typeface="Rajdhani"/>
              </a:rPr>
              <a:t>Would you buy</a:t>
            </a:r>
          </a:p>
          <a:p xmlns:a="http://schemas.openxmlformats.org/drawingml/2006/main">
            <a:pPr>
              <a:defRPr sz="5100" b="1">
                <a:solidFill>
                  <a:srgbClr val="EEEEE9"/>
                </a:solidFill>
                <a:latin typeface="Rajdhani"/>
                <a:ea typeface="Rajdhani"/>
                <a:cs typeface="Rajdhani"/>
              </a:defRPr>
            </a:pPr>
            <a:r>
              <a:rPr sz="5100" b="1">
                <a:solidFill>
                  <a:srgbClr val="EEEEE9"/>
                </a:solidFill>
                <a:latin typeface="Rajdhani"/>
                <a:ea typeface="Rajdhani"/>
                <a:cs typeface="Rajdhani"/>
              </a:rPr>
              <a:t>from this store?</a:t>
            </a:r>
          </a:p>
        </p:txBody>
      </p:sp>
      <p:sp>
        <p:nvSpPr>
          <p:cNvPr id="4" name="A convincing storefront can hide&#10;a ">
            <a:extLst xmlns:a="http://schemas.openxmlformats.org/drawingml/2006/main">
              <a:ext uri="{FF2B5EF4-FFF2-40B4-BE49-F238E27FC236}">
                <a16:creationId xmlns:a16="http://schemas.microsoft.com/office/drawing/2014/main" id="{035F0E47-5460-474C-8D8D-BEF5736FD7AF}"/>
              </a:ext>
            </a:extLst>
          </p:cNvPr>
          <p:cNvSpPr>
            <a:spLocks xmlns:a="http://schemas.openxmlformats.org/drawingml/2006/main" noGrp="1"/>
          </p:cNvSpPr>
          <p:nvPr/>
        </p:nvSpPr>
        <p:spPr>
          <a:xfrm xmlns:a="http://schemas.openxmlformats.org/drawingml/2006/main">
            <a:off x="628650" y="3905250"/>
            <a:ext cx="5095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ADAEAA"/>
                </a:solidFill>
                <a:latin typeface="Inter"/>
                <a:ea typeface="Inter"/>
                <a:cs typeface="Inter"/>
              </a:defRPr>
            </a:defPPr>
          </a:lstStyle>
          <a:p xmlns:a="http://schemas.openxmlformats.org/drawingml/2006/main">
            <a:pPr>
              <a:defRPr sz="2025" b="0">
                <a:solidFill>
                  <a:srgbClr val="ADAEAA"/>
                </a:solidFill>
                <a:latin typeface="Inter"/>
                <a:ea typeface="Inter"/>
                <a:cs typeface="Inter"/>
              </a:defRPr>
            </a:pPr>
            <a:r>
              <a:rPr sz="2025" b="0">
                <a:solidFill>
                  <a:srgbClr val="ADAEAA"/>
                </a:solidFill>
                <a:latin typeface="Inter"/>
                <a:ea typeface="Inter"/>
                <a:cs typeface="Inter"/>
              </a:rPr>
              <a:t>A convincing storefront can hide</a:t>
            </a:r>
          </a:p>
          <a:p xmlns:a="http://schemas.openxmlformats.org/drawingml/2006/main">
            <a:pPr>
              <a:defRPr sz="2025" b="0">
                <a:solidFill>
                  <a:srgbClr val="ADAEAA"/>
                </a:solidFill>
                <a:latin typeface="Inter"/>
                <a:ea typeface="Inter"/>
                <a:cs typeface="Inter"/>
              </a:defRPr>
            </a:pPr>
            <a:r>
              <a:rPr sz="2025" b="0">
                <a:solidFill>
                  <a:srgbClr val="ADAEAA"/>
                </a:solidFill>
                <a:latin typeface="Inter"/>
                <a:ea typeface="Inter"/>
                <a:cs typeface="Inter"/>
              </a:rPr>
              <a:t>a reason to pause.</a:t>
            </a:r>
          </a:p>
        </p:txBody>
      </p:sp>
      <p:pic>
        <p:nvPicPr>
          <p:cNvPr id="5" name="">
            <a:extLst xmlns:a="http://schemas.openxmlformats.org/drawingml/2006/main">
              <a:ext uri="{FF2B5EF4-FFF2-40B4-BE49-F238E27FC236}">
                <a16:creationId xmlns:a16="http://schemas.microsoft.com/office/drawing/2014/main" id="{9251ADC3-F182-4633-90A8-9633E5930E78}"/>
              </a:ext>
            </a:extLst>
          </p:cNvPr>
          <p:cNvPicPr>
            <a:picLocks xmlns:a="http://schemas.openxmlformats.org/drawingml/2006/main" noChangeAspect="1"/>
          </p:cNvPicPr>
          <p:nvPr/>
        </p:nvPicPr>
        <p:blipFill>
          <a:blip xmlns:r="http://schemas.openxmlformats.org/officeDocument/2006/relationships" xmlns:a="http://schemas.openxmlformats.org/drawingml/2006/main" r:embed="R352a8a4fadad4f1e"/>
          <a:stretch xmlns:a="http://schemas.openxmlformats.org/drawingml/2006/main"/>
        </p:blipFill>
        <p:spPr>
          <a:xfrm xmlns:a="http://schemas.openxmlformats.org/drawingml/2006/main">
            <a:off x="6530527" y="1190625"/>
            <a:ext cx="4655447" cy="4572000"/>
          </a:xfrm>
          <a:prstGeom xmlns:a="http://schemas.openxmlformats.org/drawingml/2006/main" prst="rect">
            <a:avLst/>
          </a:prstGeom>
        </p:spPr>
      </p:pic>
      <p:sp>
        <p:nvSpPr>
          <p:cNvPr id="6" name="Local demonstration store">
            <a:extLst xmlns:a="http://schemas.openxmlformats.org/drawingml/2006/main">
              <a:ext uri="{FF2B5EF4-FFF2-40B4-BE49-F238E27FC236}">
                <a16:creationId xmlns:a16="http://schemas.microsoft.com/office/drawing/2014/main" id="{72BC8A7A-05D1-4F5A-B290-F53E0D101F00}"/>
              </a:ext>
            </a:extLst>
          </p:cNvPr>
          <p:cNvSpPr>
            <a:spLocks xmlns:a="http://schemas.openxmlformats.org/drawingml/2006/main" noGrp="1"/>
          </p:cNvSpPr>
          <p:nvPr/>
        </p:nvSpPr>
        <p:spPr>
          <a:xfrm xmlns:a="http://schemas.openxmlformats.org/drawingml/2006/main">
            <a:off x="7905750" y="6000750"/>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ADAEAA"/>
                </a:solidFill>
                <a:latin typeface="Inter"/>
                <a:ea typeface="Inter"/>
                <a:cs typeface="Inter"/>
              </a:defRPr>
            </a:defPPr>
          </a:lstStyle>
          <a:p xmlns:a="http://schemas.openxmlformats.org/drawingml/2006/main">
            <a:pPr>
              <a:defRPr sz="1350" b="0">
                <a:solidFill>
                  <a:srgbClr val="ADAEAA"/>
                </a:solidFill>
                <a:latin typeface="Inter"/>
                <a:ea typeface="Inter"/>
                <a:cs typeface="Inter"/>
              </a:defRPr>
            </a:pPr>
            <a:r>
              <a:rPr sz="1350" b="0">
                <a:solidFill>
                  <a:srgbClr val="ADAEAA"/>
                </a:solidFill>
                <a:latin typeface="Inter"/>
                <a:ea typeface="Inter"/>
                <a:cs typeface="Inter"/>
              </a:rPr>
              <a:t>Local demonstration store</a:t>
            </a:r>
          </a:p>
        </p:txBody>
      </p:sp>
    </p:spTree>
    <p:extLst>
      <p:ext uri="{BB962C8B-B14F-4D97-AF65-F5344CB8AC3E}">
        <p14:creationId xmlns:p14="http://schemas.microsoft.com/office/powerpoint/2010/main" val="1061224280"/>
      </p:ext>
    </p:extLst>
  </p:cSld>
</p:sld>
</file>

<file path=ppt/slides/slide2.xml><?xml version="1.0" encoding="utf-8"?>
<p:sld xmlns:p="http://schemas.openxmlformats.org/presentationml/2006/main">
  <p:cSld>
    <p:bg>
      <p:bgPr>
        <a:solidFill xmlns:a="http://schemas.openxmlformats.org/drawingml/2006/main">
          <a:srgbClr val="191A1B"/>
        </a:solidFill>
      </p:bgPr>
    </p:bg>
    <p:spTree>
      <p:nvGrpSpPr>
        <p:cNvPr id="1" name=""/>
        <p:cNvGrpSpPr/>
        <p:nvPr/>
      </p:nvGrpSpPr>
      <p:grpSpPr>
        <a:xfrm xmlns:a="http://schemas.openxmlformats.org/drawingml/2006/main"/>
      </p:grpSpPr>
      <p:sp>
        <p:nvSpPr>
          <p:cNvPr id="9" name="meadow">
            <a:extLst xmlns:a="http://schemas.openxmlformats.org/drawingml/2006/main">
              <a:ext uri="{FF2B5EF4-FFF2-40B4-BE49-F238E27FC236}">
                <a16:creationId xmlns:a16="http://schemas.microsoft.com/office/drawing/2014/main" id="{A08D0CFB-029D-4DF5-ACA9-6586716360BE}"/>
              </a:ext>
            </a:extLst>
          </p:cNvPr>
          <p:cNvSpPr>
            <a:spLocks xmlns:a="http://schemas.openxmlformats.org/drawingml/2006/main" noGrp="1"/>
          </p:cNvSpPr>
          <p:nvPr/>
        </p:nvSpPr>
        <p:spPr>
          <a:xfrm xmlns:a="http://schemas.openxmlformats.org/drawingml/2006/main">
            <a:off x="609600" y="3429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EEEEE9"/>
                </a:solidFill>
                <a:latin typeface="Rajdhani"/>
                <a:ea typeface="Rajdhani"/>
                <a:cs typeface="Rajdhani"/>
              </a:defRPr>
            </a:defPPr>
          </a:lstStyle>
          <a:p xmlns:a="http://schemas.openxmlformats.org/drawingml/2006/main">
            <a:pPr>
              <a:defRPr sz="2400" b="1">
                <a:solidFill>
                  <a:srgbClr val="EEEEE9"/>
                </a:solidFill>
                <a:latin typeface="Rajdhani"/>
                <a:ea typeface="Rajdhani"/>
                <a:cs typeface="Rajdhani"/>
              </a:defRPr>
            </a:pPr>
            <a:r>
              <a:rPr sz="2400" b="1">
                <a:solidFill>
                  <a:srgbClr val="EEEEE9"/>
                </a:solidFill>
                <a:latin typeface="Rajdhani"/>
                <a:ea typeface="Rajdhani"/>
                <a:cs typeface="Rajdhani"/>
              </a:rPr>
              <a:t>meadow</a:t>
            </a:r>
          </a:p>
        </p:txBody>
      </p:sp>
      <p:sp>
        <p:nvSpPr>
          <p:cNvPr id="2" name="02 / 05">
            <a:extLst xmlns:a="http://schemas.openxmlformats.org/drawingml/2006/main">
              <a:ext uri="{FF2B5EF4-FFF2-40B4-BE49-F238E27FC236}">
                <a16:creationId xmlns:a16="http://schemas.microsoft.com/office/drawing/2014/main" id="{5BAED8F7-9F9C-46F1-8244-69EF39385191}"/>
              </a:ext>
            </a:extLst>
          </p:cNvPr>
          <p:cNvSpPr>
            <a:spLocks xmlns:a="http://schemas.openxmlformats.org/drawingml/2006/main" noGrp="1"/>
          </p:cNvSpPr>
          <p:nvPr/>
        </p:nvSpPr>
        <p:spPr>
          <a:xfrm xmlns:a="http://schemas.openxmlformats.org/drawingml/2006/main">
            <a:off x="10810875" y="4572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0">
                <a:solidFill>
                  <a:srgbClr val="ADAEAA"/>
                </a:solidFill>
                <a:latin typeface="Inter"/>
                <a:ea typeface="Inter"/>
                <a:cs typeface="Inter"/>
              </a:defRPr>
            </a:defPPr>
          </a:lstStyle>
          <a:p xmlns:a="http://schemas.openxmlformats.org/drawingml/2006/main">
            <a:pPr>
              <a:defRPr sz="1125" b="0">
                <a:solidFill>
                  <a:srgbClr val="ADAEAA"/>
                </a:solidFill>
                <a:latin typeface="Inter"/>
                <a:ea typeface="Inter"/>
                <a:cs typeface="Inter"/>
              </a:defRPr>
            </a:pPr>
            <a:r>
              <a:rPr sz="1125" b="0">
                <a:solidFill>
                  <a:srgbClr val="ADAEAA"/>
                </a:solidFill>
                <a:latin typeface="Inter"/>
                <a:ea typeface="Inter"/>
                <a:cs typeface="Inter"/>
              </a:rPr>
              <a:t>02 / 05</a:t>
            </a:r>
          </a:p>
        </p:txBody>
      </p:sp>
      <p:sp>
        <p:nvSpPr>
          <p:cNvPr id="3" name="A warning with a reason">
            <a:extLst xmlns:a="http://schemas.openxmlformats.org/drawingml/2006/main">
              <a:ext uri="{FF2B5EF4-FFF2-40B4-BE49-F238E27FC236}">
                <a16:creationId xmlns:a16="http://schemas.microsoft.com/office/drawing/2014/main" id="{725D60B5-F486-475A-A516-C30A9E2B2642}"/>
              </a:ext>
            </a:extLst>
          </p:cNvPr>
          <p:cNvSpPr>
            <a:spLocks xmlns:a="http://schemas.openxmlformats.org/drawingml/2006/main" noGrp="1"/>
          </p:cNvSpPr>
          <p:nvPr/>
        </p:nvSpPr>
        <p:spPr>
          <a:xfrm xmlns:a="http://schemas.openxmlformats.org/drawingml/2006/main">
            <a:off x="609600" y="111442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650" b="1">
                <a:solidFill>
                  <a:srgbClr val="EEEEE9"/>
                </a:solidFill>
                <a:latin typeface="Rajdhani"/>
                <a:ea typeface="Rajdhani"/>
                <a:cs typeface="Rajdhani"/>
              </a:defRPr>
            </a:defPPr>
          </a:lstStyle>
          <a:p xmlns:a="http://schemas.openxmlformats.org/drawingml/2006/main">
            <a:pPr>
              <a:defRPr sz="4650" b="1">
                <a:solidFill>
                  <a:srgbClr val="EEEEE9"/>
                </a:solidFill>
                <a:latin typeface="Rajdhani"/>
                <a:ea typeface="Rajdhani"/>
                <a:cs typeface="Rajdhani"/>
              </a:defRPr>
            </a:pPr>
            <a:r>
              <a:rPr sz="4650" b="1">
                <a:solidFill>
                  <a:srgbClr val="EEEEE9"/>
                </a:solidFill>
                <a:latin typeface="Rajdhani"/>
                <a:ea typeface="Rajdhani"/>
                <a:cs typeface="Rajdhani"/>
              </a:rPr>
              <a:t>A warning with a reason</a:t>
            </a:r>
          </a:p>
        </p:txBody>
      </p:sp>
      <p:pic>
        <p:nvPicPr>
          <p:cNvPr id="4" name="">
            <a:extLst xmlns:a="http://schemas.openxmlformats.org/drawingml/2006/main">
              <a:ext uri="{FF2B5EF4-FFF2-40B4-BE49-F238E27FC236}">
                <a16:creationId xmlns:a16="http://schemas.microsoft.com/office/drawing/2014/main" id="{787C4FE5-DCF5-4FE1-96D4-216E129C94F8}"/>
              </a:ext>
            </a:extLst>
          </p:cNvPr>
          <p:cNvPicPr>
            <a:picLocks xmlns:a="http://schemas.openxmlformats.org/drawingml/2006/main" noChangeAspect="1"/>
          </p:cNvPicPr>
          <p:nvPr/>
        </p:nvPicPr>
        <p:blipFill>
          <a:blip xmlns:r="http://schemas.openxmlformats.org/officeDocument/2006/relationships" xmlns:a="http://schemas.openxmlformats.org/drawingml/2006/main" r:embed="R99fef61131d84732"/>
          <a:stretch xmlns:a="http://schemas.openxmlformats.org/drawingml/2006/main"/>
        </p:blipFill>
        <p:spPr>
          <a:xfrm xmlns:a="http://schemas.openxmlformats.org/drawingml/2006/main">
            <a:off x="590550" y="2370310"/>
            <a:ext cx="5095875" cy="3508030"/>
          </a:xfrm>
          <a:prstGeom xmlns:a="http://schemas.openxmlformats.org/drawingml/2006/main" prst="rect">
            <a:avLst/>
          </a:prstGeom>
        </p:spPr>
      </p:pic>
      <p:sp>
        <p:nvSpPr>
          <p:cNvPr id="5" name="Sensitive fields on an&#10;unencrypted ">
            <a:extLst xmlns:a="http://schemas.openxmlformats.org/drawingml/2006/main">
              <a:ext uri="{FF2B5EF4-FFF2-40B4-BE49-F238E27FC236}">
                <a16:creationId xmlns:a16="http://schemas.microsoft.com/office/drawing/2014/main" id="{1345AA48-82C7-4CBF-B339-F3BE8D861FB0}"/>
              </a:ext>
            </a:extLst>
          </p:cNvPr>
          <p:cNvSpPr>
            <a:spLocks xmlns:a="http://schemas.openxmlformats.org/drawingml/2006/main" noGrp="1"/>
          </p:cNvSpPr>
          <p:nvPr/>
        </p:nvSpPr>
        <p:spPr>
          <a:xfrm xmlns:a="http://schemas.openxmlformats.org/drawingml/2006/main">
            <a:off x="6496050" y="2238375"/>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00" b="1">
                <a:solidFill>
                  <a:srgbClr val="EEEEE9"/>
                </a:solidFill>
                <a:latin typeface="Rajdhani"/>
                <a:ea typeface="Rajdhani"/>
                <a:cs typeface="Rajdhani"/>
              </a:defRPr>
            </a:defPPr>
          </a:lstStyle>
          <a:p xmlns:a="http://schemas.openxmlformats.org/drawingml/2006/main">
            <a:pPr>
              <a:defRPr sz="3300" b="1">
                <a:solidFill>
                  <a:srgbClr val="EEEEE9"/>
                </a:solidFill>
                <a:latin typeface="Rajdhani"/>
                <a:ea typeface="Rajdhani"/>
                <a:cs typeface="Rajdhani"/>
              </a:defRPr>
            </a:pPr>
            <a:r>
              <a:rPr sz="3300" b="1">
                <a:solidFill>
                  <a:srgbClr val="EEEEE9"/>
                </a:solidFill>
                <a:latin typeface="Rajdhani"/>
                <a:ea typeface="Rajdhani"/>
                <a:cs typeface="Rajdhani"/>
              </a:rPr>
              <a:t>Sensitive fields on an</a:t>
            </a:r>
          </a:p>
          <a:p xmlns:a="http://schemas.openxmlformats.org/drawingml/2006/main">
            <a:pPr>
              <a:defRPr sz="3300" b="1">
                <a:solidFill>
                  <a:srgbClr val="EEEEE9"/>
                </a:solidFill>
                <a:latin typeface="Rajdhani"/>
                <a:ea typeface="Rajdhani"/>
                <a:cs typeface="Rajdhani"/>
              </a:defRPr>
            </a:pPr>
            <a:r>
              <a:rPr sz="3300" b="1">
                <a:solidFill>
                  <a:srgbClr val="EEEEE9"/>
                </a:solidFill>
                <a:latin typeface="Rajdhani"/>
                <a:ea typeface="Rajdhani"/>
                <a:cs typeface="Rajdhani"/>
              </a:rPr>
              <a:t>unencrypted page</a:t>
            </a:r>
          </a:p>
        </p:txBody>
      </p:sp>
      <p:sp>
        <p:nvSpPr>
          <p:cNvPr id="6" name="Meadow flags the observed danger&#10;an">
            <a:extLst xmlns:a="http://schemas.openxmlformats.org/drawingml/2006/main">
              <a:ext uri="{FF2B5EF4-FFF2-40B4-BE49-F238E27FC236}">
                <a16:creationId xmlns:a16="http://schemas.microsoft.com/office/drawing/2014/main" id="{E559DD32-D9C3-4D30-8242-D8582E2ACB60}"/>
              </a:ext>
            </a:extLst>
          </p:cNvPr>
          <p:cNvSpPr>
            <a:spLocks xmlns:a="http://schemas.openxmlformats.org/drawingml/2006/main" noGrp="1"/>
          </p:cNvSpPr>
          <p:nvPr/>
        </p:nvSpPr>
        <p:spPr>
          <a:xfrm xmlns:a="http://schemas.openxmlformats.org/drawingml/2006/main">
            <a:off x="6515100" y="363855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ADAEAA"/>
                </a:solidFill>
                <a:latin typeface="Inter"/>
                <a:ea typeface="Inter"/>
                <a:cs typeface="Inter"/>
              </a:defRPr>
            </a:defPPr>
          </a:lstStyle>
          <a:p xmlns:a="http://schemas.openxmlformats.org/drawingml/2006/main">
            <a:pPr>
              <a:defRPr sz="1875" b="0">
                <a:solidFill>
                  <a:srgbClr val="ADAEAA"/>
                </a:solidFill>
                <a:latin typeface="Inter"/>
                <a:ea typeface="Inter"/>
                <a:cs typeface="Inter"/>
              </a:defRPr>
            </a:pPr>
            <a:r>
              <a:rPr sz="1875" b="0">
                <a:solidFill>
                  <a:srgbClr val="ADAEAA"/>
                </a:solidFill>
                <a:latin typeface="Inter"/>
                <a:ea typeface="Inter"/>
                <a:cs typeface="Inter"/>
              </a:rPr>
              <a:t>Meadow flags the observed danger</a:t>
            </a:r>
          </a:p>
          <a:p xmlns:a="http://schemas.openxmlformats.org/drawingml/2006/main">
            <a:pPr>
              <a:defRPr sz="1875" b="0">
                <a:solidFill>
                  <a:srgbClr val="ADAEAA"/>
                </a:solidFill>
                <a:latin typeface="Inter"/>
                <a:ea typeface="Inter"/>
                <a:cs typeface="Inter"/>
              </a:defRPr>
            </a:pPr>
            <a:r>
              <a:rPr sz="1875" b="0">
                <a:solidFill>
                  <a:srgbClr val="ADAEAA"/>
                </a:solidFill>
                <a:latin typeface="Inter"/>
                <a:ea typeface="Inter"/>
                <a:cs typeface="Inter"/>
              </a:rPr>
              <a:t>and explains why it matters.</a:t>
            </a:r>
          </a:p>
        </p:txBody>
      </p:sp>
      <p:sp>
        <p:nvSpPr>
          <p:cNvPr id="7" name="The decision stays with the shopper">
            <a:extLst xmlns:a="http://schemas.openxmlformats.org/drawingml/2006/main">
              <a:ext uri="{FF2B5EF4-FFF2-40B4-BE49-F238E27FC236}">
                <a16:creationId xmlns:a16="http://schemas.microsoft.com/office/drawing/2014/main" id="{C554464A-6558-4617-8A03-318D615C40F9}"/>
              </a:ext>
            </a:extLst>
          </p:cNvPr>
          <p:cNvSpPr>
            <a:spLocks xmlns:a="http://schemas.openxmlformats.org/drawingml/2006/main" noGrp="1"/>
          </p:cNvSpPr>
          <p:nvPr/>
        </p:nvSpPr>
        <p:spPr>
          <a:xfrm xmlns:a="http://schemas.openxmlformats.org/drawingml/2006/main">
            <a:off x="6515100" y="494347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EEEEE9"/>
                </a:solidFill>
                <a:latin typeface="Inter"/>
                <a:ea typeface="Inter"/>
                <a:cs typeface="Inter"/>
              </a:defRPr>
            </a:defPPr>
          </a:lstStyle>
          <a:p xmlns:a="http://schemas.openxmlformats.org/drawingml/2006/main">
            <a:pPr>
              <a:defRPr sz="1725" b="0">
                <a:solidFill>
                  <a:srgbClr val="EEEEE9"/>
                </a:solidFill>
                <a:latin typeface="Inter"/>
                <a:ea typeface="Inter"/>
                <a:cs typeface="Inter"/>
              </a:defRPr>
            </a:pPr>
            <a:r>
              <a:rPr sz="1725" b="0">
                <a:solidFill>
                  <a:srgbClr val="EEEEE9"/>
                </a:solidFill>
                <a:latin typeface="Inter"/>
                <a:ea typeface="Inter"/>
                <a:cs typeface="Inter"/>
              </a:rPr>
              <a:t>The decision stays with the shopper.</a:t>
            </a:r>
          </a:p>
        </p:txBody>
      </p:sp>
      <p:sp>
        <p:nvSpPr>
          <p:cNvPr id="8" name="Actual output from a labelled local">
            <a:extLst xmlns:a="http://schemas.openxmlformats.org/drawingml/2006/main">
              <a:ext uri="{FF2B5EF4-FFF2-40B4-BE49-F238E27FC236}">
                <a16:creationId xmlns:a16="http://schemas.microsoft.com/office/drawing/2014/main" id="{E450DE49-111D-49AB-B57A-A3DFFF6FD881}"/>
              </a:ext>
            </a:extLst>
          </p:cNvPr>
          <p:cNvSpPr>
            <a:spLocks xmlns:a="http://schemas.openxmlformats.org/drawingml/2006/main" noGrp="1"/>
          </p:cNvSpPr>
          <p:nvPr/>
        </p:nvSpPr>
        <p:spPr>
          <a:xfrm xmlns:a="http://schemas.openxmlformats.org/drawingml/2006/main">
            <a:off x="619125" y="62865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ADAEAA"/>
                </a:solidFill>
                <a:latin typeface="Inter"/>
                <a:ea typeface="Inter"/>
                <a:cs typeface="Inter"/>
              </a:defRPr>
            </a:defPPr>
          </a:lstStyle>
          <a:p xmlns:a="http://schemas.openxmlformats.org/drawingml/2006/main">
            <a:pPr>
              <a:defRPr sz="1350" b="0">
                <a:solidFill>
                  <a:srgbClr val="ADAEAA"/>
                </a:solidFill>
                <a:latin typeface="Inter"/>
                <a:ea typeface="Inter"/>
                <a:cs typeface="Inter"/>
              </a:defRPr>
            </a:pPr>
            <a:r>
              <a:rPr sz="1350" b="0">
                <a:solidFill>
                  <a:srgbClr val="ADAEAA"/>
                </a:solidFill>
                <a:latin typeface="Inter"/>
                <a:ea typeface="Inter"/>
                <a:cs typeface="Inter"/>
              </a:rPr>
              <a:t>Actual output from a labelled local simulation</a:t>
            </a:r>
          </a:p>
        </p:txBody>
      </p:sp>
    </p:spTree>
    <p:extLst>
      <p:ext uri="{BB962C8B-B14F-4D97-AF65-F5344CB8AC3E}">
        <p14:creationId xmlns:p14="http://schemas.microsoft.com/office/powerpoint/2010/main" val="1016481455"/>
      </p:ext>
    </p:extLst>
  </p:cSld>
</p:sld>
</file>

<file path=ppt/slides/slide3.xml><?xml version="1.0" encoding="utf-8"?>
<p:sld xmlns:p="http://schemas.openxmlformats.org/presentationml/2006/main">
  <p:cSld>
    <p:bg>
      <p:bgPr>
        <a:solidFill xmlns:a="http://schemas.openxmlformats.org/drawingml/2006/main">
          <a:srgbClr val="191A1B"/>
        </a:solidFill>
      </p:bgPr>
    </p:bg>
    <p:spTree>
      <p:nvGrpSpPr>
        <p:cNvPr id="1" name=""/>
        <p:cNvGrpSpPr/>
        <p:nvPr/>
      </p:nvGrpSpPr>
      <p:grpSpPr>
        <a:xfrm xmlns:a="http://schemas.openxmlformats.org/drawingml/2006/main"/>
      </p:grpSpPr>
      <p:sp>
        <p:nvSpPr>
          <p:cNvPr id="8" name="meadow">
            <a:extLst xmlns:a="http://schemas.openxmlformats.org/drawingml/2006/main">
              <a:ext uri="{FF2B5EF4-FFF2-40B4-BE49-F238E27FC236}">
                <a16:creationId xmlns:a16="http://schemas.microsoft.com/office/drawing/2014/main" id="{5C6040AA-A51C-4CFD-AB3C-7E2B65F51DF8}"/>
              </a:ext>
            </a:extLst>
          </p:cNvPr>
          <p:cNvSpPr>
            <a:spLocks xmlns:a="http://schemas.openxmlformats.org/drawingml/2006/main" noGrp="1"/>
          </p:cNvSpPr>
          <p:nvPr/>
        </p:nvSpPr>
        <p:spPr>
          <a:xfrm xmlns:a="http://schemas.openxmlformats.org/drawingml/2006/main">
            <a:off x="609600" y="3429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EEEEE9"/>
                </a:solidFill>
                <a:latin typeface="Rajdhani"/>
                <a:ea typeface="Rajdhani"/>
                <a:cs typeface="Rajdhani"/>
              </a:defRPr>
            </a:defPPr>
          </a:lstStyle>
          <a:p xmlns:a="http://schemas.openxmlformats.org/drawingml/2006/main">
            <a:pPr>
              <a:defRPr sz="2400" b="1">
                <a:solidFill>
                  <a:srgbClr val="EEEEE9"/>
                </a:solidFill>
                <a:latin typeface="Rajdhani"/>
                <a:ea typeface="Rajdhani"/>
                <a:cs typeface="Rajdhani"/>
              </a:defRPr>
            </a:pPr>
            <a:r>
              <a:rPr sz="2400" b="1">
                <a:solidFill>
                  <a:srgbClr val="EEEEE9"/>
                </a:solidFill>
                <a:latin typeface="Rajdhani"/>
                <a:ea typeface="Rajdhani"/>
                <a:cs typeface="Rajdhani"/>
              </a:rPr>
              <a:t>meadow</a:t>
            </a:r>
          </a:p>
        </p:txBody>
      </p:sp>
      <p:sp>
        <p:nvSpPr>
          <p:cNvPr id="2" name="03 / 05">
            <a:extLst xmlns:a="http://schemas.openxmlformats.org/drawingml/2006/main">
              <a:ext uri="{FF2B5EF4-FFF2-40B4-BE49-F238E27FC236}">
                <a16:creationId xmlns:a16="http://schemas.microsoft.com/office/drawing/2014/main" id="{BA143871-480B-42B8-AE34-6401E710864E}"/>
              </a:ext>
            </a:extLst>
          </p:cNvPr>
          <p:cNvSpPr>
            <a:spLocks xmlns:a="http://schemas.openxmlformats.org/drawingml/2006/main" noGrp="1"/>
          </p:cNvSpPr>
          <p:nvPr/>
        </p:nvSpPr>
        <p:spPr>
          <a:xfrm xmlns:a="http://schemas.openxmlformats.org/drawingml/2006/main">
            <a:off x="10810875" y="4572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0">
                <a:solidFill>
                  <a:srgbClr val="ADAEAA"/>
                </a:solidFill>
                <a:latin typeface="Inter"/>
                <a:ea typeface="Inter"/>
                <a:cs typeface="Inter"/>
              </a:defRPr>
            </a:defPPr>
          </a:lstStyle>
          <a:p xmlns:a="http://schemas.openxmlformats.org/drawingml/2006/main">
            <a:pPr>
              <a:defRPr sz="1125" b="0">
                <a:solidFill>
                  <a:srgbClr val="ADAEAA"/>
                </a:solidFill>
                <a:latin typeface="Inter"/>
                <a:ea typeface="Inter"/>
                <a:cs typeface="Inter"/>
              </a:defRPr>
            </a:pPr>
            <a:r>
              <a:rPr sz="1125" b="0">
                <a:solidFill>
                  <a:srgbClr val="ADAEAA"/>
                </a:solidFill>
                <a:latin typeface="Inter"/>
                <a:ea typeface="Inter"/>
                <a:cs typeface="Inter"/>
              </a:rPr>
              <a:t>03 / 05</a:t>
            </a:r>
          </a:p>
        </p:txBody>
      </p:sp>
      <p:sp>
        <p:nvSpPr>
          <p:cNvPr id="3" name="A check that fits&#10;how people shop">
            <a:extLst xmlns:a="http://schemas.openxmlformats.org/drawingml/2006/main">
              <a:ext uri="{FF2B5EF4-FFF2-40B4-BE49-F238E27FC236}">
                <a16:creationId xmlns:a16="http://schemas.microsoft.com/office/drawing/2014/main" id="{621D31CC-E3C6-451E-B750-E18EAB8A71B4}"/>
              </a:ext>
            </a:extLst>
          </p:cNvPr>
          <p:cNvSpPr>
            <a:spLocks xmlns:a="http://schemas.openxmlformats.org/drawingml/2006/main" noGrp="1"/>
          </p:cNvSpPr>
          <p:nvPr/>
        </p:nvSpPr>
        <p:spPr>
          <a:xfrm xmlns:a="http://schemas.openxmlformats.org/drawingml/2006/main">
            <a:off x="609600" y="1190625"/>
            <a:ext cx="595312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800" b="1">
                <a:solidFill>
                  <a:srgbClr val="EEEEE9"/>
                </a:solidFill>
                <a:latin typeface="Rajdhani"/>
                <a:ea typeface="Rajdhani"/>
                <a:cs typeface="Rajdhani"/>
              </a:defRPr>
            </a:defPPr>
          </a:lstStyle>
          <a:p xmlns:a="http://schemas.openxmlformats.org/drawingml/2006/main">
            <a:pPr>
              <a:defRPr sz="4800" b="1">
                <a:solidFill>
                  <a:srgbClr val="EEEEE9"/>
                </a:solidFill>
                <a:latin typeface="Rajdhani"/>
                <a:ea typeface="Rajdhani"/>
                <a:cs typeface="Rajdhani"/>
              </a:defRPr>
            </a:pPr>
            <a:r>
              <a:rPr sz="4800" b="1">
                <a:solidFill>
                  <a:srgbClr val="EEEEE9"/>
                </a:solidFill>
                <a:latin typeface="Rajdhani"/>
                <a:ea typeface="Rajdhani"/>
                <a:cs typeface="Rajdhani"/>
              </a:rPr>
              <a:t>A check that fits</a:t>
            </a:r>
          </a:p>
          <a:p xmlns:a="http://schemas.openxmlformats.org/drawingml/2006/main">
            <a:pPr>
              <a:defRPr sz="4800" b="1">
                <a:solidFill>
                  <a:srgbClr val="EEEEE9"/>
                </a:solidFill>
                <a:latin typeface="Rajdhani"/>
                <a:ea typeface="Rajdhani"/>
                <a:cs typeface="Rajdhani"/>
              </a:defRPr>
            </a:pPr>
            <a:r>
              <a:rPr sz="4800" b="1">
                <a:solidFill>
                  <a:srgbClr val="EEEEE9"/>
                </a:solidFill>
                <a:latin typeface="Rajdhani"/>
                <a:ea typeface="Rajdhani"/>
                <a:cs typeface="Rajdhani"/>
              </a:rPr>
              <a:t>how people shop</a:t>
            </a:r>
          </a:p>
        </p:txBody>
      </p:sp>
      <p:sp>
        <p:nvSpPr>
          <p:cNvPr id="4" name="Automatic inspection while browsing">
            <a:extLst xmlns:a="http://schemas.openxmlformats.org/drawingml/2006/main">
              <a:ext uri="{FF2B5EF4-FFF2-40B4-BE49-F238E27FC236}">
                <a16:creationId xmlns:a16="http://schemas.microsoft.com/office/drawing/2014/main" id="{8D4043AE-97F6-42C6-85BE-D46E6A953A1C}"/>
              </a:ext>
            </a:extLst>
          </p:cNvPr>
          <p:cNvSpPr>
            <a:spLocks xmlns:a="http://schemas.openxmlformats.org/drawingml/2006/main" noGrp="1"/>
          </p:cNvSpPr>
          <p:nvPr/>
        </p:nvSpPr>
        <p:spPr>
          <a:xfrm xmlns:a="http://schemas.openxmlformats.org/drawingml/2006/main">
            <a:off x="638175" y="3371850"/>
            <a:ext cx="5381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00" b="0">
                <a:solidFill>
                  <a:srgbClr val="EEEEE9"/>
                </a:solidFill>
                <a:latin typeface="Inter"/>
                <a:ea typeface="Inter"/>
                <a:cs typeface="Inter"/>
              </a:defRPr>
            </a:defPPr>
          </a:lstStyle>
          <a:p xmlns:a="http://schemas.openxmlformats.org/drawingml/2006/main">
            <a:pPr>
              <a:defRPr sz="2100" b="0">
                <a:solidFill>
                  <a:srgbClr val="EEEEE9"/>
                </a:solidFill>
                <a:latin typeface="Inter"/>
                <a:ea typeface="Inter"/>
                <a:cs typeface="Inter"/>
              </a:defRPr>
            </a:pPr>
            <a:r>
              <a:rPr sz="2100" b="0">
                <a:solidFill>
                  <a:srgbClr val="EEEEE9"/>
                </a:solidFill>
                <a:latin typeface="Inter"/>
                <a:ea typeface="Inter"/>
                <a:cs typeface="Inter"/>
              </a:rPr>
              <a:t>Automatic inspection while browsing.</a:t>
            </a:r>
          </a:p>
          <a:p xmlns:a="http://schemas.openxmlformats.org/drawingml/2006/main">
            <a:pPr>
              <a:defRPr sz="2100" b="0">
                <a:solidFill>
                  <a:srgbClr val="EEEEE9"/>
                </a:solidFill>
                <a:latin typeface="Inter"/>
                <a:ea typeface="Inter"/>
                <a:cs typeface="Inter"/>
              </a:defRPr>
            </a:pPr>
            <a:r>
              <a:rPr sz="2100" b="0">
                <a:solidFill>
                  <a:srgbClr val="EEEEE9"/>
                </a:solidFill>
                <a:latin typeface="Inter"/>
                <a:ea typeface="Inter"/>
                <a:cs typeface="Inter"/>
              </a:rPr>
              <a:t>One click to read the reasons.</a:t>
            </a:r>
          </a:p>
        </p:txBody>
      </p:sp>
      <p:sp>
        <p:nvSpPr>
          <p:cNvPr id="5" name="No account. No AI model.&#10;Uncertaint">
            <a:extLst xmlns:a="http://schemas.openxmlformats.org/drawingml/2006/main">
              <a:ext uri="{FF2B5EF4-FFF2-40B4-BE49-F238E27FC236}">
                <a16:creationId xmlns:a16="http://schemas.microsoft.com/office/drawing/2014/main" id="{A60A00FD-DEAE-4ADE-BB63-1AC96E47D443}"/>
              </a:ext>
            </a:extLst>
          </p:cNvPr>
          <p:cNvSpPr>
            <a:spLocks xmlns:a="http://schemas.openxmlformats.org/drawingml/2006/main" noGrp="1"/>
          </p:cNvSpPr>
          <p:nvPr/>
        </p:nvSpPr>
        <p:spPr>
          <a:xfrm xmlns:a="http://schemas.openxmlformats.org/drawingml/2006/main">
            <a:off x="638175" y="48291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ADAEAA"/>
                </a:solidFill>
                <a:latin typeface="Inter"/>
                <a:ea typeface="Inter"/>
                <a:cs typeface="Inter"/>
              </a:defRPr>
            </a:defPPr>
          </a:lstStyle>
          <a:p xmlns:a="http://schemas.openxmlformats.org/drawingml/2006/main">
            <a:pPr>
              <a:defRPr sz="1875" b="0">
                <a:solidFill>
                  <a:srgbClr val="ADAEAA"/>
                </a:solidFill>
                <a:latin typeface="Inter"/>
                <a:ea typeface="Inter"/>
                <a:cs typeface="Inter"/>
              </a:defRPr>
            </a:pPr>
            <a:r>
              <a:rPr sz="1875" b="0">
                <a:solidFill>
                  <a:srgbClr val="ADAEAA"/>
                </a:solidFill>
                <a:latin typeface="Inter"/>
                <a:ea typeface="Inter"/>
                <a:cs typeface="Inter"/>
              </a:rPr>
              <a:t>No account. No AI model.</a:t>
            </a:r>
          </a:p>
          <a:p xmlns:a="http://schemas.openxmlformats.org/drawingml/2006/main">
            <a:pPr>
              <a:defRPr sz="1875" b="0">
                <a:solidFill>
                  <a:srgbClr val="ADAEAA"/>
                </a:solidFill>
                <a:latin typeface="Inter"/>
                <a:ea typeface="Inter"/>
                <a:cs typeface="Inter"/>
              </a:defRPr>
            </a:pPr>
            <a:r>
              <a:rPr sz="1875" b="0">
                <a:solidFill>
                  <a:srgbClr val="ADAEAA"/>
                </a:solidFill>
                <a:latin typeface="Inter"/>
                <a:ea typeface="Inter"/>
                <a:cs typeface="Inter"/>
              </a:rPr>
              <a:t>Uncertainty stays visible.</a:t>
            </a:r>
          </a:p>
        </p:txBody>
      </p:sp>
      <p:pic>
        <p:nvPicPr>
          <p:cNvPr id="6" name="">
            <a:extLst xmlns:a="http://schemas.openxmlformats.org/drawingml/2006/main">
              <a:ext uri="{FF2B5EF4-FFF2-40B4-BE49-F238E27FC236}">
                <a16:creationId xmlns:a16="http://schemas.microsoft.com/office/drawing/2014/main" id="{EFAA3D4F-048E-4E59-B9EB-C983649486C0}"/>
              </a:ext>
            </a:extLst>
          </p:cNvPr>
          <p:cNvPicPr>
            <a:picLocks xmlns:a="http://schemas.openxmlformats.org/drawingml/2006/main" noChangeAspect="1"/>
          </p:cNvPicPr>
          <p:nvPr/>
        </p:nvPicPr>
        <p:blipFill>
          <a:blip xmlns:r="http://schemas.openxmlformats.org/officeDocument/2006/relationships" xmlns:a="http://schemas.openxmlformats.org/drawingml/2006/main" r:embed="R9e21bbec94b14297"/>
          <a:stretch xmlns:a="http://schemas.openxmlformats.org/drawingml/2006/main"/>
        </p:blipFill>
        <p:spPr>
          <a:xfrm xmlns:a="http://schemas.openxmlformats.org/drawingml/2006/main">
            <a:off x="7077075" y="1494527"/>
            <a:ext cx="4000500" cy="4230895"/>
          </a:xfrm>
          <a:prstGeom xmlns:a="http://schemas.openxmlformats.org/drawingml/2006/main" prst="rect">
            <a:avLst/>
          </a:prstGeom>
        </p:spPr>
      </p:pic>
      <p:sp>
        <p:nvSpPr>
          <p:cNvPr id="7" name="Seven focused checks">
            <a:extLst xmlns:a="http://schemas.openxmlformats.org/drawingml/2006/main">
              <a:ext uri="{FF2B5EF4-FFF2-40B4-BE49-F238E27FC236}">
                <a16:creationId xmlns:a16="http://schemas.microsoft.com/office/drawing/2014/main" id="{04954899-3AFF-4A23-8F06-FEA4E4F200C0}"/>
              </a:ext>
            </a:extLst>
          </p:cNvPr>
          <p:cNvSpPr>
            <a:spLocks xmlns:a="http://schemas.openxmlformats.org/drawingml/2006/main" noGrp="1"/>
          </p:cNvSpPr>
          <p:nvPr/>
        </p:nvSpPr>
        <p:spPr>
          <a:xfrm xmlns:a="http://schemas.openxmlformats.org/drawingml/2006/main">
            <a:off x="7477125" y="610552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ADAEAA"/>
                </a:solidFill>
                <a:latin typeface="Inter"/>
                <a:ea typeface="Inter"/>
                <a:cs typeface="Inter"/>
              </a:defRPr>
            </a:defPPr>
          </a:lstStyle>
          <a:p xmlns:a="http://schemas.openxmlformats.org/drawingml/2006/main">
            <a:pPr>
              <a:defRPr sz="1350" b="0">
                <a:solidFill>
                  <a:srgbClr val="ADAEAA"/>
                </a:solidFill>
                <a:latin typeface="Inter"/>
                <a:ea typeface="Inter"/>
                <a:cs typeface="Inter"/>
              </a:defRPr>
            </a:pPr>
            <a:r>
              <a:rPr sz="1350" b="0">
                <a:solidFill>
                  <a:srgbClr val="ADAEAA"/>
                </a:solidFill>
                <a:latin typeface="Inter"/>
                <a:ea typeface="Inter"/>
                <a:cs typeface="Inter"/>
              </a:rPr>
              <a:t>Seven focused checks</a:t>
            </a:r>
          </a:p>
        </p:txBody>
      </p:sp>
    </p:spTree>
    <p:extLst>
      <p:ext uri="{BB962C8B-B14F-4D97-AF65-F5344CB8AC3E}">
        <p14:creationId xmlns:p14="http://schemas.microsoft.com/office/powerpoint/2010/main" val="745179231"/>
      </p:ext>
    </p:extLst>
  </p:cSld>
</p:sld>
</file>

<file path=ppt/slides/slide4.xml><?xml version="1.0" encoding="utf-8"?>
<p:sld xmlns:p="http://schemas.openxmlformats.org/presentationml/2006/main">
  <p:cSld>
    <p:bg>
      <p:bgPr>
        <a:solidFill xmlns:a="http://schemas.openxmlformats.org/drawingml/2006/main">
          <a:srgbClr val="191A1B"/>
        </a:solidFill>
      </p:bgPr>
    </p:bg>
    <p:spTree>
      <p:nvGrpSpPr>
        <p:cNvPr id="1" name=""/>
        <p:cNvGrpSpPr/>
        <p:nvPr/>
      </p:nvGrpSpPr>
      <p:grpSpPr>
        <a:xfrm xmlns:a="http://schemas.openxmlformats.org/drawingml/2006/main"/>
      </p:grpSpPr>
      <p:sp>
        <p:nvSpPr>
          <p:cNvPr id="7" name="meadow">
            <a:extLst xmlns:a="http://schemas.openxmlformats.org/drawingml/2006/main">
              <a:ext uri="{FF2B5EF4-FFF2-40B4-BE49-F238E27FC236}">
                <a16:creationId xmlns:a16="http://schemas.microsoft.com/office/drawing/2014/main" id="{D64C5E52-B8C4-456A-9182-CCED3B334106}"/>
              </a:ext>
            </a:extLst>
          </p:cNvPr>
          <p:cNvSpPr>
            <a:spLocks xmlns:a="http://schemas.openxmlformats.org/drawingml/2006/main" noGrp="1"/>
          </p:cNvSpPr>
          <p:nvPr/>
        </p:nvSpPr>
        <p:spPr>
          <a:xfrm xmlns:a="http://schemas.openxmlformats.org/drawingml/2006/main">
            <a:off x="609600" y="3429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EEEEE9"/>
                </a:solidFill>
                <a:latin typeface="Rajdhani"/>
                <a:ea typeface="Rajdhani"/>
                <a:cs typeface="Rajdhani"/>
              </a:defRPr>
            </a:defPPr>
          </a:lstStyle>
          <a:p xmlns:a="http://schemas.openxmlformats.org/drawingml/2006/main">
            <a:pPr>
              <a:defRPr sz="2400" b="1">
                <a:solidFill>
                  <a:srgbClr val="EEEEE9"/>
                </a:solidFill>
                <a:latin typeface="Rajdhani"/>
                <a:ea typeface="Rajdhani"/>
                <a:cs typeface="Rajdhani"/>
              </a:defRPr>
            </a:pPr>
            <a:r>
              <a:rPr sz="2400" b="1">
                <a:solidFill>
                  <a:srgbClr val="EEEEE9"/>
                </a:solidFill>
                <a:latin typeface="Rajdhani"/>
                <a:ea typeface="Rajdhani"/>
                <a:cs typeface="Rajdhani"/>
              </a:rPr>
              <a:t>meadow</a:t>
            </a:r>
          </a:p>
        </p:txBody>
      </p:sp>
      <p:sp>
        <p:nvSpPr>
          <p:cNvPr id="2" name="04 / 05">
            <a:extLst xmlns:a="http://schemas.openxmlformats.org/drawingml/2006/main">
              <a:ext uri="{FF2B5EF4-FFF2-40B4-BE49-F238E27FC236}">
                <a16:creationId xmlns:a16="http://schemas.microsoft.com/office/drawing/2014/main" id="{89061CCE-621B-4E38-9311-4588AD8AF6B3}"/>
              </a:ext>
            </a:extLst>
          </p:cNvPr>
          <p:cNvSpPr>
            <a:spLocks xmlns:a="http://schemas.openxmlformats.org/drawingml/2006/main" noGrp="1"/>
          </p:cNvSpPr>
          <p:nvPr/>
        </p:nvSpPr>
        <p:spPr>
          <a:xfrm xmlns:a="http://schemas.openxmlformats.org/drawingml/2006/main">
            <a:off x="10810875" y="4572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0">
                <a:solidFill>
                  <a:srgbClr val="ADAEAA"/>
                </a:solidFill>
                <a:latin typeface="Inter"/>
                <a:ea typeface="Inter"/>
                <a:cs typeface="Inter"/>
              </a:defRPr>
            </a:defPPr>
          </a:lstStyle>
          <a:p xmlns:a="http://schemas.openxmlformats.org/drawingml/2006/main">
            <a:pPr>
              <a:defRPr sz="1125" b="0">
                <a:solidFill>
                  <a:srgbClr val="ADAEAA"/>
                </a:solidFill>
                <a:latin typeface="Inter"/>
                <a:ea typeface="Inter"/>
                <a:cs typeface="Inter"/>
              </a:defRPr>
            </a:pPr>
            <a:r>
              <a:rPr sz="1125" b="0">
                <a:solidFill>
                  <a:srgbClr val="ADAEAA"/>
                </a:solidFill>
                <a:latin typeface="Inter"/>
                <a:ea typeface="Inter"/>
                <a:cs typeface="Inter"/>
              </a:rPr>
              <a:t>04 / 05</a:t>
            </a:r>
          </a:p>
        </p:txBody>
      </p:sp>
      <p:sp>
        <p:nvSpPr>
          <p:cNvPr id="3" name="The checkout test">
            <a:extLst xmlns:a="http://schemas.openxmlformats.org/drawingml/2006/main">
              <a:ext uri="{FF2B5EF4-FFF2-40B4-BE49-F238E27FC236}">
                <a16:creationId xmlns:a16="http://schemas.microsoft.com/office/drawing/2014/main" id="{33007498-6E9A-48DC-BC8E-4A98C4A36C07}"/>
              </a:ext>
            </a:extLst>
          </p:cNvPr>
          <p:cNvSpPr>
            <a:spLocks xmlns:a="http://schemas.openxmlformats.org/drawingml/2006/main" noGrp="1"/>
          </p:cNvSpPr>
          <p:nvPr/>
        </p:nvSpPr>
        <p:spPr>
          <a:xfrm xmlns:a="http://schemas.openxmlformats.org/drawingml/2006/main">
            <a:off x="609600" y="1228725"/>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400" b="1">
                <a:solidFill>
                  <a:srgbClr val="EEEEE9"/>
                </a:solidFill>
                <a:latin typeface="Rajdhani"/>
                <a:ea typeface="Rajdhani"/>
                <a:cs typeface="Rajdhani"/>
              </a:defRPr>
            </a:defPPr>
          </a:lstStyle>
          <a:p xmlns:a="http://schemas.openxmlformats.org/drawingml/2006/main">
            <a:pPr>
              <a:defRPr sz="5400" b="1">
                <a:solidFill>
                  <a:srgbClr val="EEEEE9"/>
                </a:solidFill>
                <a:latin typeface="Rajdhani"/>
                <a:ea typeface="Rajdhani"/>
                <a:cs typeface="Rajdhani"/>
              </a:defRPr>
            </a:pPr>
            <a:r>
              <a:rPr sz="5400" b="1">
                <a:solidFill>
                  <a:srgbClr val="EEEEE9"/>
                </a:solidFill>
                <a:latin typeface="Rajdhani"/>
                <a:ea typeface="Rajdhani"/>
                <a:cs typeface="Rajdhani"/>
              </a:rPr>
              <a:t>The checkout test</a:t>
            </a:r>
          </a:p>
        </p:txBody>
      </p:sp>
      <p:sp>
        <p:nvSpPr>
          <p:cNvPr id="4" name="What changes when the&#10;payment form ">
            <a:extLst xmlns:a="http://schemas.openxmlformats.org/drawingml/2006/main">
              <a:ext uri="{FF2B5EF4-FFF2-40B4-BE49-F238E27FC236}">
                <a16:creationId xmlns:a16="http://schemas.microsoft.com/office/drawing/2014/main" id="{FE897D28-8E9C-40EC-9782-DE42945D9A63}"/>
              </a:ext>
            </a:extLst>
          </p:cNvPr>
          <p:cNvSpPr>
            <a:spLocks xmlns:a="http://schemas.openxmlformats.org/drawingml/2006/main" noGrp="1"/>
          </p:cNvSpPr>
          <p:nvPr/>
        </p:nvSpPr>
        <p:spPr>
          <a:xfrm xmlns:a="http://schemas.openxmlformats.org/drawingml/2006/main">
            <a:off x="628650" y="2762250"/>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750" b="1">
                <a:solidFill>
                  <a:srgbClr val="EEEEE9"/>
                </a:solidFill>
                <a:latin typeface="Rajdhani"/>
                <a:ea typeface="Rajdhani"/>
                <a:cs typeface="Rajdhani"/>
              </a:defRPr>
            </a:defPPr>
          </a:lstStyle>
          <a:p xmlns:a="http://schemas.openxmlformats.org/drawingml/2006/main">
            <a:pPr>
              <a:defRPr sz="3750" b="1">
                <a:solidFill>
                  <a:srgbClr val="EEEEE9"/>
                </a:solidFill>
                <a:latin typeface="Rajdhani"/>
                <a:ea typeface="Rajdhani"/>
                <a:cs typeface="Rajdhani"/>
              </a:defRPr>
            </a:pPr>
            <a:r>
              <a:rPr sz="3750" b="1">
                <a:solidFill>
                  <a:srgbClr val="EEEEE9"/>
                </a:solidFill>
                <a:latin typeface="Rajdhani"/>
                <a:ea typeface="Rajdhani"/>
                <a:cs typeface="Rajdhani"/>
              </a:rPr>
              <a:t>What changes when the</a:t>
            </a:r>
          </a:p>
          <a:p xmlns:a="http://schemas.openxmlformats.org/drawingml/2006/main">
            <a:pPr>
              <a:defRPr sz="3750" b="1">
                <a:solidFill>
                  <a:srgbClr val="EEEEE9"/>
                </a:solidFill>
                <a:latin typeface="Rajdhani"/>
                <a:ea typeface="Rajdhani"/>
                <a:cs typeface="Rajdhani"/>
              </a:defRPr>
            </a:pPr>
            <a:r>
              <a:rPr sz="3750" b="1">
                <a:solidFill>
                  <a:srgbClr val="EEEEE9"/>
                </a:solidFill>
                <a:latin typeface="Rajdhani"/>
                <a:ea typeface="Rajdhani"/>
                <a:cs typeface="Rajdhani"/>
              </a:rPr>
              <a:t>payment form appears?</a:t>
            </a:r>
          </a:p>
        </p:txBody>
      </p:sp>
      <p:sp>
        <p:nvSpPr>
          <p:cNvPr id="5" name="Live in Chrome">
            <a:extLst xmlns:a="http://schemas.openxmlformats.org/drawingml/2006/main">
              <a:ext uri="{FF2B5EF4-FFF2-40B4-BE49-F238E27FC236}">
                <a16:creationId xmlns:a16="http://schemas.microsoft.com/office/drawing/2014/main" id="{351A9F71-25D2-48ED-842C-D2691E663D2D}"/>
              </a:ext>
            </a:extLst>
          </p:cNvPr>
          <p:cNvSpPr>
            <a:spLocks xmlns:a="http://schemas.openxmlformats.org/drawingml/2006/main" noGrp="1"/>
          </p:cNvSpPr>
          <p:nvPr/>
        </p:nvSpPr>
        <p:spPr>
          <a:xfrm xmlns:a="http://schemas.openxmlformats.org/drawingml/2006/main">
            <a:off x="657225" y="4819650"/>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EEEEE9"/>
                </a:solidFill>
                <a:latin typeface="Inter"/>
                <a:ea typeface="Inter"/>
                <a:cs typeface="Inter"/>
              </a:defRPr>
            </a:defPPr>
          </a:lstStyle>
          <a:p xmlns:a="http://schemas.openxmlformats.org/drawingml/2006/main">
            <a:pPr>
              <a:defRPr sz="2175" b="0">
                <a:solidFill>
                  <a:srgbClr val="EEEEE9"/>
                </a:solidFill>
                <a:latin typeface="Inter"/>
                <a:ea typeface="Inter"/>
                <a:cs typeface="Inter"/>
              </a:defRPr>
            </a:pPr>
            <a:r>
              <a:rPr sz="2175" b="0">
                <a:solidFill>
                  <a:srgbClr val="EEEEE9"/>
                </a:solidFill>
                <a:latin typeface="Inter"/>
                <a:ea typeface="Inter"/>
                <a:cs typeface="Inter"/>
              </a:rPr>
              <a:t>Live in Chrome</a:t>
            </a:r>
          </a:p>
        </p:txBody>
      </p:sp>
      <p:sp>
        <p:nvSpPr>
          <p:cNvPr id="6" name="Then a new shop: does newness alone">
            <a:extLst xmlns:a="http://schemas.openxmlformats.org/drawingml/2006/main">
              <a:ext uri="{FF2B5EF4-FFF2-40B4-BE49-F238E27FC236}">
                <a16:creationId xmlns:a16="http://schemas.microsoft.com/office/drawing/2014/main" id="{269ED0A0-94D8-4AA7-8D21-DC4DA83BEFE5}"/>
              </a:ext>
            </a:extLst>
          </p:cNvPr>
          <p:cNvSpPr>
            <a:spLocks xmlns:a="http://schemas.openxmlformats.org/drawingml/2006/main" noGrp="1"/>
          </p:cNvSpPr>
          <p:nvPr/>
        </p:nvSpPr>
        <p:spPr>
          <a:xfrm xmlns:a="http://schemas.openxmlformats.org/drawingml/2006/main">
            <a:off x="657225" y="5400675"/>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ADAEAA"/>
                </a:solidFill>
                <a:latin typeface="Inter"/>
                <a:ea typeface="Inter"/>
                <a:cs typeface="Inter"/>
              </a:defRPr>
            </a:defPPr>
          </a:lstStyle>
          <a:p xmlns:a="http://schemas.openxmlformats.org/drawingml/2006/main">
            <a:pPr>
              <a:defRPr sz="1875" b="0">
                <a:solidFill>
                  <a:srgbClr val="ADAEAA"/>
                </a:solidFill>
                <a:latin typeface="Inter"/>
                <a:ea typeface="Inter"/>
                <a:cs typeface="Inter"/>
              </a:defRPr>
            </a:pPr>
            <a:r>
              <a:rPr sz="1875" b="0">
                <a:solidFill>
                  <a:srgbClr val="ADAEAA"/>
                </a:solidFill>
                <a:latin typeface="Inter"/>
                <a:ea typeface="Inter"/>
                <a:cs typeface="Inter"/>
              </a:rPr>
              <a:t>Then a new shop: does newness alone trigger high risk?</a:t>
            </a:r>
          </a:p>
        </p:txBody>
      </p:sp>
    </p:spTree>
    <p:extLst>
      <p:ext uri="{BB962C8B-B14F-4D97-AF65-F5344CB8AC3E}">
        <p14:creationId xmlns:p14="http://schemas.microsoft.com/office/powerpoint/2010/main" val="413439504"/>
      </p:ext>
    </p:extLst>
  </p:cSld>
</p:sld>
</file>

<file path=ppt/slides/slide5.xml><?xml version="1.0" encoding="utf-8"?>
<p:sld xmlns:p="http://schemas.openxmlformats.org/presentationml/2006/main">
  <p:cSld>
    <p:bg>
      <p:bgPr>
        <a:solidFill xmlns:a="http://schemas.openxmlformats.org/drawingml/2006/main">
          <a:srgbClr val="191A1B"/>
        </a:solidFill>
      </p:bgPr>
    </p:bg>
    <p:spTree>
      <p:nvGrpSpPr>
        <p:cNvPr id="1" name=""/>
        <p:cNvGrpSpPr/>
        <p:nvPr/>
      </p:nvGrpSpPr>
      <p:grpSpPr>
        <a:xfrm xmlns:a="http://schemas.openxmlformats.org/drawingml/2006/main"/>
      </p:grpSpPr>
      <p:sp>
        <p:nvSpPr>
          <p:cNvPr id="7" name="meadow">
            <a:extLst xmlns:a="http://schemas.openxmlformats.org/drawingml/2006/main">
              <a:ext uri="{FF2B5EF4-FFF2-40B4-BE49-F238E27FC236}">
                <a16:creationId xmlns:a16="http://schemas.microsoft.com/office/drawing/2014/main" id="{51AA7246-E0F5-4835-A124-14AEE46ADF18}"/>
              </a:ext>
            </a:extLst>
          </p:cNvPr>
          <p:cNvSpPr>
            <a:spLocks xmlns:a="http://schemas.openxmlformats.org/drawingml/2006/main" noGrp="1"/>
          </p:cNvSpPr>
          <p:nvPr/>
        </p:nvSpPr>
        <p:spPr>
          <a:xfrm xmlns:a="http://schemas.openxmlformats.org/drawingml/2006/main">
            <a:off x="609600" y="3429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EEEEE9"/>
                </a:solidFill>
                <a:latin typeface="Rajdhani"/>
                <a:ea typeface="Rajdhani"/>
                <a:cs typeface="Rajdhani"/>
              </a:defRPr>
            </a:defPPr>
          </a:lstStyle>
          <a:p xmlns:a="http://schemas.openxmlformats.org/drawingml/2006/main">
            <a:pPr>
              <a:defRPr sz="2400" b="1">
                <a:solidFill>
                  <a:srgbClr val="EEEEE9"/>
                </a:solidFill>
                <a:latin typeface="Rajdhani"/>
                <a:ea typeface="Rajdhani"/>
                <a:cs typeface="Rajdhani"/>
              </a:defRPr>
            </a:pPr>
            <a:r>
              <a:rPr sz="2400" b="1">
                <a:solidFill>
                  <a:srgbClr val="EEEEE9"/>
                </a:solidFill>
                <a:latin typeface="Rajdhani"/>
                <a:ea typeface="Rajdhani"/>
                <a:cs typeface="Rajdhani"/>
              </a:rPr>
              <a:t>meadow</a:t>
            </a:r>
          </a:p>
        </p:txBody>
      </p:sp>
      <p:sp>
        <p:nvSpPr>
          <p:cNvPr id="2" name="05 / 05">
            <a:extLst xmlns:a="http://schemas.openxmlformats.org/drawingml/2006/main">
              <a:ext uri="{FF2B5EF4-FFF2-40B4-BE49-F238E27FC236}">
                <a16:creationId xmlns:a16="http://schemas.microsoft.com/office/drawing/2014/main" id="{0AC8E932-643B-4A44-8F24-79E1373EF97A}"/>
              </a:ext>
            </a:extLst>
          </p:cNvPr>
          <p:cNvSpPr>
            <a:spLocks xmlns:a="http://schemas.openxmlformats.org/drawingml/2006/main" noGrp="1"/>
          </p:cNvSpPr>
          <p:nvPr/>
        </p:nvSpPr>
        <p:spPr>
          <a:xfrm xmlns:a="http://schemas.openxmlformats.org/drawingml/2006/main">
            <a:off x="10810875" y="45720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25" b="0">
                <a:solidFill>
                  <a:srgbClr val="ADAEAA"/>
                </a:solidFill>
                <a:latin typeface="Inter"/>
                <a:ea typeface="Inter"/>
                <a:cs typeface="Inter"/>
              </a:defRPr>
            </a:defPPr>
          </a:lstStyle>
          <a:p xmlns:a="http://schemas.openxmlformats.org/drawingml/2006/main">
            <a:pPr>
              <a:defRPr sz="1125" b="0">
                <a:solidFill>
                  <a:srgbClr val="ADAEAA"/>
                </a:solidFill>
                <a:latin typeface="Inter"/>
                <a:ea typeface="Inter"/>
                <a:cs typeface="Inter"/>
              </a:defRPr>
            </a:pPr>
            <a:r>
              <a:rPr sz="1125" b="0">
                <a:solidFill>
                  <a:srgbClr val="ADAEAA"/>
                </a:solidFill>
                <a:latin typeface="Inter"/>
                <a:ea typeface="Inter"/>
                <a:cs typeface="Inter"/>
              </a:rPr>
              <a:t>05 / 05</a:t>
            </a:r>
          </a:p>
        </p:txBody>
      </p:sp>
      <p:sp>
        <p:nvSpPr>
          <p:cNvPr id="3" name="meadow">
            <a:extLst xmlns:a="http://schemas.openxmlformats.org/drawingml/2006/main">
              <a:ext uri="{FF2B5EF4-FFF2-40B4-BE49-F238E27FC236}">
                <a16:creationId xmlns:a16="http://schemas.microsoft.com/office/drawing/2014/main" id="{4A40C190-903D-4C24-A665-715D85D6F1A9}"/>
              </a:ext>
            </a:extLst>
          </p:cNvPr>
          <p:cNvSpPr>
            <a:spLocks xmlns:a="http://schemas.openxmlformats.org/drawingml/2006/main" noGrp="1"/>
          </p:cNvSpPr>
          <p:nvPr/>
        </p:nvSpPr>
        <p:spPr>
          <a:xfrm xmlns:a="http://schemas.openxmlformats.org/drawingml/2006/main">
            <a:off x="590550" y="1285875"/>
            <a:ext cx="11049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450" b="1">
                <a:solidFill>
                  <a:srgbClr val="EEEEE9"/>
                </a:solidFill>
                <a:latin typeface="Rajdhani"/>
                <a:ea typeface="Rajdhani"/>
                <a:cs typeface="Rajdhani"/>
              </a:defRPr>
            </a:defPPr>
          </a:lstStyle>
          <a:p xmlns:a="http://schemas.openxmlformats.org/drawingml/2006/main">
            <a:pPr>
              <a:defRPr sz="9450" b="1">
                <a:solidFill>
                  <a:srgbClr val="EEEEE9"/>
                </a:solidFill>
                <a:latin typeface="Rajdhani"/>
                <a:ea typeface="Rajdhani"/>
                <a:cs typeface="Rajdhani"/>
              </a:defRPr>
            </a:pPr>
            <a:r>
              <a:rPr sz="9450" b="1">
                <a:solidFill>
                  <a:srgbClr val="EEEEE9"/>
                </a:solidFill>
                <a:latin typeface="Rajdhani"/>
                <a:ea typeface="Rajdhani"/>
                <a:cs typeface="Rajdhani"/>
              </a:rPr>
              <a:t>meadow</a:t>
            </a:r>
          </a:p>
        </p:txBody>
      </p:sp>
      <p:sp>
        <p:nvSpPr>
          <p:cNvPr id="4" name="A little clarity.&#10;Before you buy.">
            <a:extLst xmlns:a="http://schemas.openxmlformats.org/drawingml/2006/main">
              <a:ext uri="{FF2B5EF4-FFF2-40B4-BE49-F238E27FC236}">
                <a16:creationId xmlns:a16="http://schemas.microsoft.com/office/drawing/2014/main" id="{3783091A-21D1-4CEB-A1A2-F62CFB3D6453}"/>
              </a:ext>
            </a:extLst>
          </p:cNvPr>
          <p:cNvSpPr>
            <a:spLocks xmlns:a="http://schemas.openxmlformats.org/drawingml/2006/main" noGrp="1"/>
          </p:cNvSpPr>
          <p:nvPr/>
        </p:nvSpPr>
        <p:spPr>
          <a:xfrm xmlns:a="http://schemas.openxmlformats.org/drawingml/2006/main">
            <a:off x="647700" y="3009900"/>
            <a:ext cx="10953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875" b="1">
                <a:solidFill>
                  <a:srgbClr val="EEEEE9"/>
                </a:solidFill>
                <a:latin typeface="Rajdhani"/>
                <a:ea typeface="Rajdhani"/>
                <a:cs typeface="Rajdhani"/>
              </a:defRPr>
            </a:defPPr>
          </a:lstStyle>
          <a:p xmlns:a="http://schemas.openxmlformats.org/drawingml/2006/main">
            <a:pPr>
              <a:defRPr sz="4875" b="1">
                <a:solidFill>
                  <a:srgbClr val="EEEEE9"/>
                </a:solidFill>
                <a:latin typeface="Rajdhani"/>
                <a:ea typeface="Rajdhani"/>
                <a:cs typeface="Rajdhani"/>
              </a:defRPr>
            </a:pPr>
            <a:r>
              <a:rPr sz="4875" b="1">
                <a:solidFill>
                  <a:srgbClr val="EEEEE9"/>
                </a:solidFill>
                <a:latin typeface="Rajdhani"/>
                <a:ea typeface="Rajdhani"/>
                <a:cs typeface="Rajdhani"/>
              </a:rPr>
              <a:t>A little clarity.</a:t>
            </a:r>
          </a:p>
          <a:p xmlns:a="http://schemas.openxmlformats.org/drawingml/2006/main">
            <a:pPr>
              <a:defRPr sz="4875" b="1">
                <a:solidFill>
                  <a:srgbClr val="EEEEE9"/>
                </a:solidFill>
                <a:latin typeface="Rajdhani"/>
                <a:ea typeface="Rajdhani"/>
                <a:cs typeface="Rajdhani"/>
              </a:defRPr>
            </a:pPr>
            <a:r>
              <a:rPr sz="4875" b="1">
                <a:solidFill>
                  <a:srgbClr val="EEEEE9"/>
                </a:solidFill>
                <a:latin typeface="Rajdhani"/>
                <a:ea typeface="Rajdhani"/>
                <a:cs typeface="Rajdhani"/>
              </a:rPr>
              <a:t>Before you buy.</a:t>
            </a:r>
          </a:p>
        </p:txBody>
      </p:sp>
      <p:sp>
        <p:nvSpPr>
          <p:cNvPr id="5" name="A first check for an unfamiliar sto">
            <a:extLst xmlns:a="http://schemas.openxmlformats.org/drawingml/2006/main">
              <a:ext uri="{FF2B5EF4-FFF2-40B4-BE49-F238E27FC236}">
                <a16:creationId xmlns:a16="http://schemas.microsoft.com/office/drawing/2014/main" id="{5009CA3C-4E5C-416D-86CC-7CF480039723}"/>
              </a:ext>
            </a:extLst>
          </p:cNvPr>
          <p:cNvSpPr>
            <a:spLocks xmlns:a="http://schemas.openxmlformats.org/drawingml/2006/main" noGrp="1"/>
          </p:cNvSpPr>
          <p:nvPr/>
        </p:nvSpPr>
        <p:spPr>
          <a:xfrm xmlns:a="http://schemas.openxmlformats.org/drawingml/2006/main">
            <a:off x="666750" y="4886325"/>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ADAEAA"/>
                </a:solidFill>
                <a:latin typeface="Inter"/>
                <a:ea typeface="Inter"/>
                <a:cs typeface="Inter"/>
              </a:defRPr>
            </a:defPPr>
          </a:lstStyle>
          <a:p xmlns:a="http://schemas.openxmlformats.org/drawingml/2006/main">
            <a:pPr>
              <a:defRPr sz="2175" b="0">
                <a:solidFill>
                  <a:srgbClr val="ADAEAA"/>
                </a:solidFill>
                <a:latin typeface="Inter"/>
                <a:ea typeface="Inter"/>
                <a:cs typeface="Inter"/>
              </a:defRPr>
            </a:pPr>
            <a:r>
              <a:rPr sz="2175" b="0">
                <a:solidFill>
                  <a:srgbClr val="ADAEAA"/>
                </a:solidFill>
                <a:latin typeface="Inter"/>
                <a:ea typeface="Inter"/>
                <a:cs typeface="Inter"/>
              </a:rPr>
              <a:t>A first check for an unfamiliar store,</a:t>
            </a:r>
          </a:p>
          <a:p xmlns:a="http://schemas.openxmlformats.org/drawingml/2006/main">
            <a:pPr>
              <a:defRPr sz="2175" b="0">
                <a:solidFill>
                  <a:srgbClr val="ADAEAA"/>
                </a:solidFill>
                <a:latin typeface="Inter"/>
                <a:ea typeface="Inter"/>
                <a:cs typeface="Inter"/>
              </a:defRPr>
            </a:pPr>
            <a:r>
              <a:rPr sz="2175" b="0">
                <a:solidFill>
                  <a:srgbClr val="ADAEAA"/>
                </a:solidFill>
                <a:latin typeface="Inter"/>
                <a:ea typeface="Inter"/>
                <a:cs typeface="Inter"/>
              </a:rPr>
              <a:t>with reasons you can understand.</a:t>
            </a:r>
          </a:p>
        </p:txBody>
      </p:sp>
      <p:sp>
        <p:nvSpPr>
          <p:cNvPr id="6" name="First-pass screening. No guarantee ">
            <a:extLst xmlns:a="http://schemas.openxmlformats.org/drawingml/2006/main">
              <a:ext uri="{FF2B5EF4-FFF2-40B4-BE49-F238E27FC236}">
                <a16:creationId xmlns:a16="http://schemas.microsoft.com/office/drawing/2014/main" id="{CA01EE7A-8100-48FF-8249-B7A9B2F15C25}"/>
              </a:ext>
            </a:extLst>
          </p:cNvPr>
          <p:cNvSpPr>
            <a:spLocks xmlns:a="http://schemas.openxmlformats.org/drawingml/2006/main" noGrp="1"/>
          </p:cNvSpPr>
          <p:nvPr/>
        </p:nvSpPr>
        <p:spPr>
          <a:xfrm xmlns:a="http://schemas.openxmlformats.org/drawingml/2006/main">
            <a:off x="666750" y="62865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0">
                <a:solidFill>
                  <a:srgbClr val="ADAEAA"/>
                </a:solidFill>
                <a:latin typeface="Inter"/>
                <a:ea typeface="Inter"/>
                <a:cs typeface="Inter"/>
              </a:defRPr>
            </a:defPPr>
          </a:lstStyle>
          <a:p xmlns:a="http://schemas.openxmlformats.org/drawingml/2006/main">
            <a:pPr>
              <a:defRPr sz="1425" b="0">
                <a:solidFill>
                  <a:srgbClr val="ADAEAA"/>
                </a:solidFill>
                <a:latin typeface="Inter"/>
                <a:ea typeface="Inter"/>
                <a:cs typeface="Inter"/>
              </a:defRPr>
            </a:pPr>
            <a:r>
              <a:rPr sz="1425" b="0">
                <a:solidFill>
                  <a:srgbClr val="ADAEAA"/>
                </a:solidFill>
                <a:latin typeface="Inter"/>
                <a:ea typeface="Inter"/>
                <a:cs typeface="Inter"/>
              </a:rPr>
              <a:t>First-pass screening. No guarantee of legitimacy or delivery.</a:t>
            </a:r>
          </a:p>
        </p:txBody>
      </p:sp>
    </p:spTree>
    <p:extLst>
      <p:ext uri="{BB962C8B-B14F-4D97-AF65-F5344CB8AC3E}">
        <p14:creationId xmlns:p14="http://schemas.microsoft.com/office/powerpoint/2010/main" val="19244722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2026-10-08T08:15:20.4060000Z</dcterms:created>
  <dcterms:modified xsi:type="dcterms:W3CDTF">2026-10-08T08:15:20.4060000Z</dcterms:modified>
</coreProperties>
</file>